
<file path=[Content_Types].xml><?xml version="1.0" encoding="utf-8"?>
<Types xmlns="http://schemas.openxmlformats.org/package/2006/content-types">
  <Default Extension="avif" ContentType="image/avif"/>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3"/>
  </p:notesMasterIdLst>
  <p:sldIdLst>
    <p:sldId id="256" r:id="rId2"/>
    <p:sldId id="257" r:id="rId3"/>
    <p:sldId id="258" r:id="rId4"/>
    <p:sldId id="259" r:id="rId5"/>
    <p:sldId id="260" r:id="rId6"/>
    <p:sldId id="261" r:id="rId7"/>
    <p:sldId id="262" r:id="rId8"/>
    <p:sldId id="263" r:id="rId9"/>
    <p:sldId id="264" r:id="rId10"/>
    <p:sldId id="265" r:id="rId11"/>
    <p:sldId id="266" r:id="rId12"/>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Partie 1 · L'idée" id="{6C5B19A7-1D40-8CA2-3231-7BC33AEDEA13}">
          <p14:sldIdLst>
            <p14:sldId id="256"/>
            <p14:sldId id="257"/>
            <p14:sldId id="258"/>
            <p14:sldId id="259"/>
            <p14:sldId id="260"/>
          </p14:sldIdLst>
        </p14:section>
        <p14:section name="Partie 2 · Comment ça marche" id="{EDAD2F89-069A-ED9A-BE1B-31A32D7D3F46}">
          <p14:sldIdLst>
            <p14:sldId id="261"/>
            <p14:sldId id="262"/>
            <p14:sldId id="263"/>
          </p14:sldIdLst>
        </p14:section>
        <p14:section name="Partie 3 · Démonstration" id="{1A31F3E4-2DAC-07A8-CCBE-5ED6D354A53D}">
          <p14:sldIdLst>
            <p14:sldId id="264"/>
            <p14:sldId id="265"/>
            <p14:sldId id="266"/>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EF5F1"/>
    <a:srgbClr val="17312A"/>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71" d="100"/>
          <a:sy n="71" d="100"/>
        </p:scale>
        <p:origin x="114" y="7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2010535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fr-FR"/>
          </a:p>
        </p:txBody>
      </p:sp>
      <p:sp>
        <p:nvSpPr>
          <p:cNvPr id="3" name="Notes Placeholder 2"/>
          <p:cNvSpPr>
            <a:spLocks noGrp="1"/>
          </p:cNvSpPr>
          <p:nvPr>
            <p:ph type="body" idx="1"/>
          </p:nvPr>
        </p:nvSpPr>
        <p:spPr/>
        <p:txBody>
          <a:bodyPr/>
          <a:lstStyle/>
          <a:p>
            <a:r>
              <a:rPr lang="en-US" dirty="0"/>
              <a:t>PERSONNE 1 · ≈ 20 s. Se présenter, présenter l'équipe, annoncer le projet en une phrase : un nouvel arrivant scanne un QR code et l'application lui montre le chemin jusqu'au bâtiment qu'il cherche.</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fr-FR"/>
          </a:p>
        </p:txBody>
      </p:sp>
      <p:sp>
        <p:nvSpPr>
          <p:cNvPr id="3" name="Notes Placeholder 2"/>
          <p:cNvSpPr>
            <a:spLocks noGrp="1"/>
          </p:cNvSpPr>
          <p:nvPr>
            <p:ph type="body" idx="1"/>
          </p:nvPr>
        </p:nvSpPr>
        <p:spPr/>
        <p:txBody>
          <a:bodyPr/>
          <a:lstStyle/>
          <a:p>
            <a:r>
              <a:rPr lang="en-US" dirty="0"/>
              <a:t>PERSONNE 1 · ≈ 20 s. Annoncer qui présente chaque partie : moi pour l'idée, [nom] pour le fonctionnement, [nom] pour la démonstration.</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fr-FR"/>
          </a:p>
        </p:txBody>
      </p:sp>
      <p:sp>
        <p:nvSpPr>
          <p:cNvPr id="3" name="Notes Placeholder 2"/>
          <p:cNvSpPr>
            <a:spLocks noGrp="1"/>
          </p:cNvSpPr>
          <p:nvPr>
            <p:ph type="body" idx="1"/>
          </p:nvPr>
        </p:nvSpPr>
        <p:spPr/>
        <p:txBody>
          <a:bodyPr/>
          <a:lstStyle/>
          <a:p>
            <a:r>
              <a:rPr lang="en-US" dirty="0"/>
              <a:t>PERSONNE 1 · ≈ 50 s. Partir d'une situation vécue : votre premier jour à l'EPT, ou un parent qui vient pour une inscription. Où est la scolarité ? Où est l'auditorium ? On demande, on se trompe, on perd du temps.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fr-FR"/>
          </a:p>
        </p:txBody>
      </p:sp>
      <p:sp>
        <p:nvSpPr>
          <p:cNvPr id="3" name="Notes Placeholder 2"/>
          <p:cNvSpPr>
            <a:spLocks noGrp="1"/>
          </p:cNvSpPr>
          <p:nvPr>
            <p:ph type="body" idx="1"/>
          </p:nvPr>
        </p:nvSpPr>
        <p:spPr/>
        <p:txBody>
          <a:bodyPr/>
          <a:lstStyle/>
          <a:p>
            <a:r>
              <a:rPr lang="en-US" dirty="0"/>
              <a:t>PERSONNE 1 · ≈ 1 min. Montrer la capture : ici, un étudiant au restaurant cherche l'auditorium. Le trait vert lui montre le chemin, 425 m, 6 minutes à pied. Insister : rien à installer, rien à taper, pas besoin de GPS.</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fr-FR"/>
          </a:p>
        </p:txBody>
      </p:sp>
      <p:sp>
        <p:nvSpPr>
          <p:cNvPr id="3" name="Notes Placeholder 2"/>
          <p:cNvSpPr>
            <a:spLocks noGrp="1"/>
          </p:cNvSpPr>
          <p:nvPr>
            <p:ph type="body" idx="1"/>
          </p:nvPr>
        </p:nvSpPr>
        <p:spPr/>
        <p:txBody>
          <a:bodyPr/>
          <a:lstStyle/>
          <a:p>
            <a:r>
              <a:rPr lang="en-US" dirty="0"/>
              <a:t>PERSONNE 1 · ≈ 40 s. Dire à qui ça sert, puis passer la parole : « [Nom] va vous expliquer comment tout cela fonctionne sur notre propre réseau 5G. »</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fr-FR"/>
          </a:p>
        </p:txBody>
      </p:sp>
      <p:sp>
        <p:nvSpPr>
          <p:cNvPr id="3" name="Notes Placeholder 2"/>
          <p:cNvSpPr>
            <a:spLocks noGrp="1"/>
          </p:cNvSpPr>
          <p:nvPr>
            <p:ph type="body" idx="1"/>
          </p:nvPr>
        </p:nvSpPr>
        <p:spPr/>
        <p:txBody>
          <a:bodyPr/>
          <a:lstStyle/>
          <a:p>
            <a:r>
              <a:rPr lang="en-US" dirty="0"/>
              <a:t>PERSONNE 2 · ≈ 1 min 15. Suivre la chaîne de gauche à droite. Le téléphone se connecte en Wi-Fi à notre ordinateur, qui joue le rôle d'une box 5G, comme les box 5G qu'on achète chez un opérateur. La demande passe ensuite par l'antenne 5G, puis par le cœur de réseau, qui vérifie que l'abonné est autorisé et oriente ses données, et arrive au serveur du guide. Ce sont les mêmes étapes que dans le réseau d'un vrai opérateur, mais tout tient dans un seul ordinateur, dans l'école.</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fr-FR"/>
          </a:p>
        </p:txBody>
      </p:sp>
      <p:sp>
        <p:nvSpPr>
          <p:cNvPr id="3" name="Notes Placeholder 2"/>
          <p:cNvSpPr>
            <a:spLocks noGrp="1"/>
          </p:cNvSpPr>
          <p:nvPr>
            <p:ph type="body" idx="1"/>
          </p:nvPr>
        </p:nvSpPr>
        <p:spPr/>
        <p:txBody>
          <a:bodyPr/>
          <a:lstStyle/>
          <a:p>
            <a:r>
              <a:rPr lang="en-US" dirty="0"/>
              <a:t>PERSONNE 2 · ≈ 50 s. Trois réalisations, une phrase chacune. Point de fierté : un téléphone ordinaire ne peut pas se connecter tout seul à notre réseau 5G de test, alors nous avons transformé l'ordinateur en box 5G. Tout est en logiciel libre, donc reproductible à faible coût.</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fr-FR"/>
          </a:p>
        </p:txBody>
      </p:sp>
      <p:sp>
        <p:nvSpPr>
          <p:cNvPr id="3" name="Notes Placeholder 2"/>
          <p:cNvSpPr>
            <a:spLocks noGrp="1"/>
          </p:cNvSpPr>
          <p:nvPr>
            <p:ph type="body" idx="1"/>
          </p:nvPr>
        </p:nvSpPr>
        <p:spPr/>
        <p:txBody>
          <a:bodyPr/>
          <a:lstStyle/>
          <a:p>
            <a:r>
              <a:rPr lang="en-US" dirty="0"/>
              <a:t>PERSONNE 2 · ≈ 55 s. Deux promesses tenues. 1) Autonomie : rien ne vient d'Internet. 2) Ce n'est pas un raccourci : dans le journal de notre serveur, chaque visite du téléphone apparaît avec l'adresse du cœur de réseau 5G (l'UPF), jamais celle du téléphone. Puis passer la parole : « [Nom] va maintenant vous le montrer en direct. »</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fr-FR"/>
          </a:p>
        </p:txBody>
      </p:sp>
      <p:sp>
        <p:nvSpPr>
          <p:cNvPr id="3" name="Notes Placeholder 2"/>
          <p:cNvSpPr>
            <a:spLocks noGrp="1"/>
          </p:cNvSpPr>
          <p:nvPr>
            <p:ph type="body" idx="1"/>
          </p:nvPr>
        </p:nvSpPr>
        <p:spPr/>
        <p:txBody>
          <a:bodyPr/>
          <a:lstStyle/>
          <a:p>
            <a:r>
              <a:rPr lang="en-US" dirty="0"/>
              <a:t>PERSONNE 3 · ≈ 2 min 30. Avant : réseau démarré et vérifié (./05_verifier_chaine.sh), téléphone connecté à Campus5G avec les données mobiles coupées, QR code imprimé, écran de l'ordinateur projeté. Pendant : scanner, choisir l'auditorium, montrer le trajet et la photo. Preuve : afficher docker logs campus-guide | tail -3 (adresse du cœur 192.168.70.134). Option : docker pause oai-upf, la page ne charge plus, puis docker unpause oai-upf. Plan B : vidéo enregistrée la veille.</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fr-FR"/>
          </a:p>
        </p:txBody>
      </p:sp>
      <p:sp>
        <p:nvSpPr>
          <p:cNvPr id="3" name="Notes Placeholder 2"/>
          <p:cNvSpPr>
            <a:spLocks noGrp="1"/>
          </p:cNvSpPr>
          <p:nvPr>
            <p:ph type="body" idx="1"/>
          </p:nvPr>
        </p:nvSpPr>
        <p:spPr/>
        <p:txBody>
          <a:bodyPr/>
          <a:lstStyle/>
          <a:p>
            <a:r>
              <a:rPr lang="en-US" dirty="0"/>
              <a:t>PERSONNE 3 · ≈ 30 s. Être honnête sur ce qui est simulé avant que le jury ne pose la question : l'antenne. Tout le reste (cœur de réseau, serveur, application) fonctionne comme dans un vrai déploiement. Puis ouvrir sur la suite.</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fr-FR"/>
          </a:p>
        </p:txBody>
      </p:sp>
      <p:sp>
        <p:nvSpPr>
          <p:cNvPr id="3" name="Notes Placeholder 2"/>
          <p:cNvSpPr>
            <a:spLocks noGrp="1"/>
          </p:cNvSpPr>
          <p:nvPr>
            <p:ph type="body" idx="1"/>
          </p:nvPr>
        </p:nvSpPr>
        <p:spPr/>
        <p:txBody>
          <a:bodyPr/>
          <a:lstStyle/>
          <a:p>
            <a:r>
              <a:rPr lang="en-US" dirty="0"/>
              <a:t>TOUTE L'ÉQUIPE · questions. Qui répond : idée et usages → personne 1 ; réseau et 5G → personne 2 ; application et démo → personne 3. Réponses prêtes : pourquoi pas Google Maps (il faut Internet, et il ne connaît pas le campus) ; comment l'application sait où l'on est (le QR code) ; le téléphone est-il en 5G (il passe par notre box 5G, comme chez un opérateur) ; et sans Internet (tout marche, on peut le montrer).</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RE_SOMBRE">
    <p:bg>
      <p:bgPr>
        <a:solidFill>
          <a:srgbClr val="17312A"/>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731520" y="1828800"/>
            <a:ext cx="9509760" cy="1554480"/>
          </a:xfrm>
          <a:prstGeom prst="rect">
            <a:avLst/>
          </a:prstGeom>
          <a:noFill/>
          <a:ln/>
        </p:spPr>
        <p:txBody>
          <a:bodyPr wrap="square" rtlCol="0"/>
          <a:lstStyle>
            <a:lvl1pPr marL="0" indent="0" algn="l">
              <a:buNone/>
              <a:defRPr lang="en-US" sz="4400" b="1" dirty="0">
                <a:solidFill>
                  <a:schemeClr val="bg1"/>
                </a:solidFill>
              </a:defRPr>
            </a:lvl1pPr>
          </a:lstStyle>
          <a:p>
            <a:pPr marL="0" indent="0" algn="l">
              <a:buNone/>
            </a:pPr>
            <a:endParaRPr lang="en-US" sz="4400" dirty="0"/>
          </a:p>
        </p:txBody>
      </p:sp>
      <p:sp>
        <p:nvSpPr>
          <p:cNvPr id="3" name="Text 0"/>
          <p:cNvSpPr>
            <a:spLocks noGrp="1"/>
          </p:cNvSpPr>
          <p:nvPr>
            <p:ph type="body" idx="101" hasCustomPrompt="1"/>
          </p:nvPr>
        </p:nvSpPr>
        <p:spPr>
          <a:xfrm>
            <a:off x="731520" y="3520440"/>
            <a:ext cx="9509760" cy="1188720"/>
          </a:xfrm>
          <a:prstGeom prst="rect">
            <a:avLst/>
          </a:prstGeom>
          <a:noFill/>
          <a:ln/>
        </p:spPr>
        <p:txBody>
          <a:bodyPr wrap="square" rtlCol="0"/>
          <a:lstStyle>
            <a:lvl1pPr marL="0" indent="0" algn="l">
              <a:buNone/>
              <a:defRPr lang="en-US" sz="2200" dirty="0">
                <a:solidFill>
                  <a:srgbClr val="C9E4D8"/>
                </a:solidFill>
              </a:defRPr>
            </a:lvl1pPr>
          </a:lstStyle>
          <a:p>
            <a:pPr marL="0" indent="0" algn="l">
              <a:buNone/>
            </a:pPr>
            <a:endParaRPr lang="en-US" sz="22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U">
    <p:bg>
      <p:bgPr>
        <a:solidFill>
          <a:srgbClr val="FFFFFF"/>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11480"/>
            <a:ext cx="8778240" cy="822960"/>
          </a:xfrm>
          <a:prstGeom prst="rect">
            <a:avLst/>
          </a:prstGeom>
          <a:noFill/>
          <a:ln/>
        </p:spPr>
        <p:txBody>
          <a:bodyPr wrap="square" rtlCol="0"/>
          <a:lstStyle>
            <a:lvl1pPr marL="0" indent="0" algn="l">
              <a:buNone/>
              <a:defRPr lang="en-US" sz="3400" b="1" dirty="0">
                <a:solidFill>
                  <a:schemeClr val="tx1"/>
                </a:solidFill>
              </a:defRPr>
            </a:lvl1pPr>
          </a:lstStyle>
          <a:p>
            <a:pPr marL="0" indent="0" algn="l">
              <a:buNone/>
            </a:pPr>
            <a:endParaRPr lang="en-US" sz="3400" dirty="0"/>
          </a:p>
        </p:txBody>
      </p:sp>
      <p:sp>
        <p:nvSpPr>
          <p:cNvPr id="3" name="Text 0"/>
          <p:cNvSpPr/>
          <p:nvPr/>
        </p:nvSpPr>
        <p:spPr>
          <a:xfrm>
            <a:off x="548640" y="6400800"/>
            <a:ext cx="8229600" cy="274320"/>
          </a:xfrm>
          <a:prstGeom prst="rect">
            <a:avLst/>
          </a:prstGeom>
          <a:noFill/>
          <a:ln/>
        </p:spPr>
        <p:txBody>
          <a:bodyPr wrap="square" rtlCol="0" anchor="ctr"/>
          <a:lstStyle/>
          <a:p>
            <a:pPr marL="0" indent="0">
              <a:buNone/>
            </a:pPr>
            <a:r>
              <a:rPr lang="en-US" sz="1000" dirty="0">
                <a:solidFill>
                  <a:srgbClr val="5F6B7A"/>
                </a:solidFill>
              </a:rPr>
              <a:t>Guide EPT · réseau 5G du campus · Hackathon DIGITAfrica 2026</a:t>
            </a:r>
            <a:endParaRPr lang="en-US" sz="10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F6B7A"/>
                </a:solidFill>
              </a:defRPr>
            </a:lvl1pPr>
          </a:lstStyle>
          <a:p>
            <a:pPr algn="r"/>
            <a:fld id="{F7021451-1387-4CA6-816F-3879F97B5CBC}" type="slidenum">
              <a:rPr lang="en-US" b="0"/>
              <a:t>‹N°›</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F6B7A"/>
                </a:solidFill>
              </a:defRPr>
            </a:lvl1pPr>
          </a:lstStyle>
          <a:p>
            <a:pPr algn="r"/>
            <a:fld id="{F7021451-1387-4CA6-816F-3879F97B5CBC}" type="slidenum">
              <a:rPr lang="en-US" b="0"/>
              <a:t>‹N°›</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avif"/><Relationship Id="rId2" Type="http://schemas.openxmlformats.org/officeDocument/2006/relationships/notesSlide" Target="../notesSlides/notesSlide1.xml"/><Relationship Id="rId1" Type="http://schemas.openxmlformats.org/officeDocument/2006/relationships/slideLayout" Target="../slideLayouts/slideLayout2.xml"/><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3.xml"/><Relationship Id="rId5" Type="http://schemas.openxmlformats.org/officeDocument/2006/relationships/image" Target="../media/image6.png"/><Relationship Id="rId4" Type="http://schemas.openxmlformats.org/officeDocument/2006/relationships/image" Target="../media/image5.png"/></Relationships>
</file>

<file path=ppt/slides/_rels/slide4.xml.rels><?xml version="1.0" encoding="UTF-8" standalone="yes"?>
<Relationships xmlns="http://schemas.openxmlformats.org/package/2006/relationships"><Relationship Id="rId3" Type="http://schemas.openxmlformats.org/officeDocument/2006/relationships/image" Target="../media/image7.png"/><Relationship Id="rId7" Type="http://schemas.openxmlformats.org/officeDocument/2006/relationships/image" Target="../media/image11.png"/><Relationship Id="rId2" Type="http://schemas.openxmlformats.org/officeDocument/2006/relationships/notesSlide" Target="../notesSlides/notesSlide4.xml"/><Relationship Id="rId1" Type="http://schemas.openxmlformats.org/officeDocument/2006/relationships/slideLayout" Target="../slideLayouts/slideLayout3.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s>
</file>

<file path=ppt/slides/_rels/slide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5.xml"/><Relationship Id="rId1" Type="http://schemas.openxmlformats.org/officeDocument/2006/relationships/slideLayout" Target="../slideLayouts/slideLayout3.xml"/><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image" Target="../media/image13.png"/></Relationships>
</file>

<file path=ppt/slides/_rels/slide6.xml.rels><?xml version="1.0" encoding="UTF-8" standalone="yes"?>
<Relationships xmlns="http://schemas.openxmlformats.org/package/2006/relationships"><Relationship Id="rId3" Type="http://schemas.openxmlformats.org/officeDocument/2006/relationships/image" Target="../media/image15.png"/><Relationship Id="rId7" Type="http://schemas.openxmlformats.org/officeDocument/2006/relationships/image" Target="../media/image18.png"/><Relationship Id="rId2" Type="http://schemas.openxmlformats.org/officeDocument/2006/relationships/notesSlide" Target="../notesSlides/notesSlide6.xml"/><Relationship Id="rId1" Type="http://schemas.openxmlformats.org/officeDocument/2006/relationships/slideLayout" Target="../slideLayouts/slideLayout3.xml"/><Relationship Id="rId6" Type="http://schemas.openxmlformats.org/officeDocument/2006/relationships/image" Target="../media/image17.png"/><Relationship Id="rId5" Type="http://schemas.openxmlformats.org/officeDocument/2006/relationships/image" Target="../media/image2.png"/><Relationship Id="rId4" Type="http://schemas.openxmlformats.org/officeDocument/2006/relationships/image" Target="../media/image16.png"/></Relationships>
</file>

<file path=ppt/slides/_rels/slide7.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7.xml"/><Relationship Id="rId1" Type="http://schemas.openxmlformats.org/officeDocument/2006/relationships/slideLayout" Target="../slideLayouts/slideLayout3.xml"/><Relationship Id="rId5" Type="http://schemas.openxmlformats.org/officeDocument/2006/relationships/image" Target="../media/image20.png"/><Relationship Id="rId4" Type="http://schemas.openxmlformats.org/officeDocument/2006/relationships/image" Target="../media/image16.png"/></Relationships>
</file>

<file path=ppt/slides/_rels/slide8.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8.xml"/><Relationship Id="rId1" Type="http://schemas.openxmlformats.org/officeDocument/2006/relationships/slideLayout" Target="../slideLayouts/slideLayout3.xml"/><Relationship Id="rId4" Type="http://schemas.openxmlformats.org/officeDocument/2006/relationships/image" Target="../media/image22.png"/></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0.xml"/><Relationship Id="rId1" Type="http://schemas.openxmlformats.org/officeDocument/2006/relationships/slideLayout" Target="../slideLayouts/slideLayout3.xml"/><Relationship Id="rId4" Type="http://schemas.openxmlformats.org/officeDocument/2006/relationships/image" Target="../media/image24.png"/></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F034CB2F-613B-3877-0428-0C3F64FFBB25}"/>
              </a:ext>
            </a:extLst>
          </p:cNvPr>
          <p:cNvSpPr/>
          <p:nvPr/>
        </p:nvSpPr>
        <p:spPr>
          <a:xfrm>
            <a:off x="1" y="0"/>
            <a:ext cx="12192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14" name="Image 13">
            <a:extLst>
              <a:ext uri="{FF2B5EF4-FFF2-40B4-BE49-F238E27FC236}">
                <a16:creationId xmlns:a16="http://schemas.microsoft.com/office/drawing/2014/main" id="{1143BAAB-7FF4-390B-2564-8278ECB5AA8E}"/>
              </a:ext>
            </a:extLst>
          </p:cNvPr>
          <p:cNvPicPr>
            <a:picLocks noChangeAspect="1"/>
          </p:cNvPicPr>
          <p:nvPr/>
        </p:nvPicPr>
        <p:blipFill>
          <a:blip r:embed="rId3"/>
          <a:stretch>
            <a:fillRect/>
          </a:stretch>
        </p:blipFill>
        <p:spPr>
          <a:xfrm>
            <a:off x="-1449750" y="2951630"/>
            <a:ext cx="4072981" cy="4072981"/>
          </a:xfrm>
          <a:prstGeom prst="rect">
            <a:avLst/>
          </a:prstGeom>
        </p:spPr>
      </p:pic>
      <p:sp>
        <p:nvSpPr>
          <p:cNvPr id="2" name="Text 0"/>
          <p:cNvSpPr>
            <a:spLocks noGrp="1"/>
          </p:cNvSpPr>
          <p:nvPr>
            <p:ph type="title" idx="100" hasCustomPrompt="1"/>
          </p:nvPr>
        </p:nvSpPr>
        <p:spPr>
          <a:xfrm>
            <a:off x="4640580" y="876749"/>
            <a:ext cx="2910840" cy="664285"/>
          </a:xfrm>
          <a:prstGeom prst="rect">
            <a:avLst/>
          </a:prstGeom>
          <a:noFill/>
          <a:ln/>
        </p:spPr>
        <p:txBody>
          <a:bodyPr wrap="square" rtlCol="0" anchor="b"/>
          <a:lstStyle/>
          <a:p>
            <a:pPr marL="0" indent="0" algn="l">
              <a:buNone/>
            </a:pPr>
            <a:r>
              <a:rPr lang="en-US" dirty="0" err="1">
                <a:solidFill>
                  <a:srgbClr val="17312A"/>
                </a:solidFill>
                <a:latin typeface="Lucida Sans" panose="020B0602030504020204" pitchFamily="34" charset="0"/>
              </a:rPr>
              <a:t>MyWay</a:t>
            </a:r>
            <a:endParaRPr lang="en-US" sz="4400" dirty="0">
              <a:solidFill>
                <a:srgbClr val="17312A"/>
              </a:solidFill>
              <a:latin typeface="Lucida Sans" panose="020B0602030504020204" pitchFamily="34" charset="0"/>
            </a:endParaRPr>
          </a:p>
        </p:txBody>
      </p:sp>
      <p:sp>
        <p:nvSpPr>
          <p:cNvPr id="4" name="evenement"/>
          <p:cNvSpPr txBox="1"/>
          <p:nvPr/>
        </p:nvSpPr>
        <p:spPr>
          <a:xfrm>
            <a:off x="731520" y="5962425"/>
            <a:ext cx="7315200" cy="365760"/>
          </a:xfrm>
          <a:prstGeom prst="rect">
            <a:avLst/>
          </a:prstGeom>
          <a:noFill/>
          <a:ln/>
        </p:spPr>
        <p:txBody>
          <a:bodyPr wrap="square" lIns="0" tIns="0" rIns="0" bIns="0" rtlCol="0" anchor="ctr"/>
          <a:lstStyle/>
          <a:p>
            <a:pPr marL="0" indent="0">
              <a:buNone/>
            </a:pPr>
            <a:r>
              <a:rPr lang="en-US" sz="1600" b="1" dirty="0">
                <a:solidFill>
                  <a:srgbClr val="F2A541"/>
                </a:solidFill>
              </a:rPr>
              <a:t>Hackathon DIGITAfrica · Thiès · Octobre 2026</a:t>
            </a:r>
            <a:endParaRPr lang="en-US" sz="1600" b="1" dirty="0"/>
          </a:p>
        </p:txBody>
      </p:sp>
      <p:sp>
        <p:nvSpPr>
          <p:cNvPr id="5" name="icone-titre-cercle"/>
          <p:cNvSpPr/>
          <p:nvPr/>
        </p:nvSpPr>
        <p:spPr>
          <a:xfrm>
            <a:off x="9547413" y="920450"/>
            <a:ext cx="1583390" cy="1554480"/>
          </a:xfrm>
          <a:prstGeom prst="ellipse">
            <a:avLst/>
          </a:prstGeom>
          <a:solidFill>
            <a:srgbClr val="1B6E53"/>
          </a:solidFill>
          <a:ln w="12700">
            <a:solidFill>
              <a:srgbClr val="1B6E53"/>
            </a:solidFill>
            <a:prstDash val="solid"/>
          </a:ln>
        </p:spPr>
        <p:txBody>
          <a:bodyPr/>
          <a:lstStyle/>
          <a:p>
            <a:endParaRPr lang="fr-FR"/>
          </a:p>
        </p:txBody>
      </p:sp>
      <p:pic>
        <p:nvPicPr>
          <p:cNvPr id="6" name="icone-titre" descr="preencoded.png"/>
          <p:cNvPicPr>
            <a:picLocks noChangeAspect="1"/>
          </p:cNvPicPr>
          <p:nvPr/>
        </p:nvPicPr>
        <p:blipFill>
          <a:blip r:embed="rId4"/>
          <a:stretch>
            <a:fillRect/>
          </a:stretch>
        </p:blipFill>
        <p:spPr>
          <a:xfrm>
            <a:off x="9693985" y="1023993"/>
            <a:ext cx="1324536" cy="1324536"/>
          </a:xfrm>
          <a:prstGeom prst="rect">
            <a:avLst/>
          </a:prstGeom>
        </p:spPr>
      </p:pic>
      <p:pic>
        <p:nvPicPr>
          <p:cNvPr id="11" name="Image 10">
            <a:extLst>
              <a:ext uri="{FF2B5EF4-FFF2-40B4-BE49-F238E27FC236}">
                <a16:creationId xmlns:a16="http://schemas.microsoft.com/office/drawing/2014/main" id="{C9302010-75A7-5FAB-D379-1D57C1A91B4E}"/>
              </a:ext>
            </a:extLst>
          </p:cNvPr>
          <p:cNvPicPr>
            <a:picLocks noChangeAspect="1"/>
          </p:cNvPicPr>
          <p:nvPr/>
        </p:nvPicPr>
        <p:blipFill>
          <a:blip r:embed="rId5"/>
          <a:stretch>
            <a:fillRect/>
          </a:stretch>
        </p:blipFill>
        <p:spPr>
          <a:xfrm>
            <a:off x="7040656" y="2776818"/>
            <a:ext cx="5829300" cy="3886200"/>
          </a:xfrm>
          <a:prstGeom prst="rect">
            <a:avLst/>
          </a:prstGeom>
        </p:spPr>
      </p:pic>
      <p:sp>
        <p:nvSpPr>
          <p:cNvPr id="7" name="Text 0">
            <a:extLst>
              <a:ext uri="{FF2B5EF4-FFF2-40B4-BE49-F238E27FC236}">
                <a16:creationId xmlns:a16="http://schemas.microsoft.com/office/drawing/2014/main" id="{3B8564B7-DD57-DE60-CA80-DD42CF67423B}"/>
              </a:ext>
            </a:extLst>
          </p:cNvPr>
          <p:cNvSpPr txBox="1">
            <a:spLocks/>
          </p:cNvSpPr>
          <p:nvPr/>
        </p:nvSpPr>
        <p:spPr>
          <a:xfrm>
            <a:off x="2090793" y="2174390"/>
            <a:ext cx="6988886" cy="1266039"/>
          </a:xfrm>
          <a:prstGeom prst="rect">
            <a:avLst/>
          </a:prstGeom>
          <a:noFill/>
          <a:ln/>
        </p:spPr>
        <p:txBody>
          <a:bodyPr wrap="square" rtlCol="0" anchor="b"/>
          <a:lstStyle>
            <a:lvl1pPr marL="0" indent="0" algn="l" defTabSz="914400" rtl="0" eaLnBrk="1" latinLnBrk="0" hangingPunct="1">
              <a:spcBef>
                <a:spcPct val="0"/>
              </a:spcBef>
              <a:buNone/>
              <a:defRPr lang="en-US" sz="4400" b="1" kern="1200" dirty="0">
                <a:solidFill>
                  <a:schemeClr val="bg1"/>
                </a:solidFill>
                <a:latin typeface="+mj-lt"/>
                <a:ea typeface="+mj-ea"/>
                <a:cs typeface="+mj-cs"/>
              </a:defRPr>
            </a:lvl1pPr>
          </a:lstStyle>
          <a:p>
            <a:pPr algn="ctr"/>
            <a:r>
              <a:rPr lang="en-US" dirty="0">
                <a:solidFill>
                  <a:schemeClr val="tx1"/>
                </a:solidFill>
                <a:latin typeface="Lucida Sans" panose="020B0602030504020204" pitchFamily="34" charset="0"/>
              </a:rPr>
              <a:t>S'orienter dans le campus grâce à la 5G</a:t>
            </a:r>
            <a:endParaRPr lang="fr-FR" dirty="0">
              <a:solidFill>
                <a:schemeClr val="tx1"/>
              </a:solidFill>
              <a:latin typeface="Lucida Sans" panose="020B0602030504020204"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fade">
                                      <p:cBhvr>
                                        <p:cTn id="7" dur="1000"/>
                                        <p:tgtEl>
                                          <p:spTgt spid="14"/>
                                        </p:tgtEl>
                                      </p:cBhvr>
                                    </p:animEffect>
                                    <p:anim calcmode="lin" valueType="num">
                                      <p:cBhvr>
                                        <p:cTn id="8" dur="1000" fill="hold"/>
                                        <p:tgtEl>
                                          <p:spTgt spid="14"/>
                                        </p:tgtEl>
                                        <p:attrNameLst>
                                          <p:attrName>ppt_x</p:attrName>
                                        </p:attrNameLst>
                                      </p:cBhvr>
                                      <p:tavLst>
                                        <p:tav tm="0">
                                          <p:val>
                                            <p:strVal val="#ppt_x"/>
                                          </p:val>
                                        </p:tav>
                                        <p:tav tm="100000">
                                          <p:val>
                                            <p:strVal val="#ppt_x"/>
                                          </p:val>
                                        </p:tav>
                                      </p:tavLst>
                                    </p:anim>
                                    <p:anim calcmode="lin" valueType="num">
                                      <p:cBhvr>
                                        <p:cTn id="9" dur="1000" fill="hold"/>
                                        <p:tgtEl>
                                          <p:spTgt spid="14"/>
                                        </p:tgtEl>
                                        <p:attrNameLst>
                                          <p:attrName>ppt_y</p:attrName>
                                        </p:attrNameLst>
                                      </p:cBhvr>
                                      <p:tavLst>
                                        <p:tav tm="0">
                                          <p:val>
                                            <p:strVal val="#ppt_y+.1"/>
                                          </p:val>
                                        </p:tav>
                                        <p:tav tm="100000">
                                          <p:val>
                                            <p:strVal val="#ppt_y"/>
                                          </p:val>
                                        </p:tav>
                                      </p:tavLst>
                                    </p:anim>
                                  </p:childTnLst>
                                </p:cTn>
                              </p:par>
                            </p:childTnLst>
                          </p:cTn>
                        </p:par>
                        <p:par>
                          <p:cTn id="10" fill="hold">
                            <p:stCondLst>
                              <p:cond delay="1000"/>
                            </p:stCondLst>
                            <p:childTnLst>
                              <p:par>
                                <p:cTn id="11" presetID="42" presetClass="entr" presetSubtype="0" fill="hold" nodeType="after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fade">
                                      <p:cBhvr>
                                        <p:cTn id="13" dur="1000"/>
                                        <p:tgtEl>
                                          <p:spTgt spid="11"/>
                                        </p:tgtEl>
                                      </p:cBhvr>
                                    </p:animEffect>
                                    <p:anim calcmode="lin" valueType="num">
                                      <p:cBhvr>
                                        <p:cTn id="14" dur="1000" fill="hold"/>
                                        <p:tgtEl>
                                          <p:spTgt spid="11"/>
                                        </p:tgtEl>
                                        <p:attrNameLst>
                                          <p:attrName>ppt_x</p:attrName>
                                        </p:attrNameLst>
                                      </p:cBhvr>
                                      <p:tavLst>
                                        <p:tav tm="0">
                                          <p:val>
                                            <p:strVal val="#ppt_x"/>
                                          </p:val>
                                        </p:tav>
                                        <p:tav tm="100000">
                                          <p:val>
                                            <p:strVal val="#ppt_x"/>
                                          </p:val>
                                        </p:tav>
                                      </p:tavLst>
                                    </p:anim>
                                    <p:anim calcmode="lin" valueType="num">
                                      <p:cBhvr>
                                        <p:cTn id="15" dur="1000" fill="hold"/>
                                        <p:tgtEl>
                                          <p:spTgt spid="11"/>
                                        </p:tgtEl>
                                        <p:attrNameLst>
                                          <p:attrName>ppt_y</p:attrName>
                                        </p:attrNameLst>
                                      </p:cBhvr>
                                      <p:tavLst>
                                        <p:tav tm="0">
                                          <p:val>
                                            <p:strVal val="#ppt_y+.1"/>
                                          </p:val>
                                        </p:tav>
                                        <p:tav tm="100000">
                                          <p:val>
                                            <p:strVal val="#ppt_y"/>
                                          </p:val>
                                        </p:tav>
                                      </p:tavLst>
                                    </p:anim>
                                  </p:childTnLst>
                                </p:cTn>
                              </p:par>
                            </p:childTnLst>
                          </p:cTn>
                        </p:par>
                      </p:childTnLst>
                    </p:cTn>
                  </p:par>
                  <p:par>
                    <p:cTn id="16" fill="hold">
                      <p:stCondLst>
                        <p:cond delay="indefinite"/>
                      </p:stCondLst>
                      <p:childTnLst>
                        <p:par>
                          <p:cTn id="17" fill="hold">
                            <p:stCondLst>
                              <p:cond delay="0"/>
                            </p:stCondLst>
                            <p:childTnLst>
                              <p:par>
                                <p:cTn id="18" presetID="1" presetClass="entr" presetSubtype="0" fill="hold" grpId="0" nodeType="clickEffect">
                                  <p:stCondLst>
                                    <p:cond delay="0"/>
                                  </p:stCondLst>
                                  <p:childTnLst>
                                    <p:set>
                                      <p:cBhvr>
                                        <p:cTn id="19" dur="1" fill="hold">
                                          <p:stCondLst>
                                            <p:cond delay="0"/>
                                          </p:stCondLst>
                                        </p:cTn>
                                        <p:tgtEl>
                                          <p:spTgt spid="5"/>
                                        </p:tgtEl>
                                        <p:attrNameLst>
                                          <p:attrName>style.visibility</p:attrName>
                                        </p:attrNameLst>
                                      </p:cBhvr>
                                      <p:to>
                                        <p:strVal val="visible"/>
                                      </p:to>
                                    </p:set>
                                  </p:childTnLst>
                                </p:cTn>
                              </p:par>
                              <p:par>
                                <p:cTn id="20" presetID="10" presetClass="entr" presetSubtype="0" fill="hold" nodeType="with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fade">
                                      <p:cBhvr>
                                        <p:cTn id="22" dur="500"/>
                                        <p:tgtEl>
                                          <p:spTgt spid="6"/>
                                        </p:tgtEl>
                                      </p:cBhvr>
                                    </p:animEffec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2"/>
                                        </p:tgtEl>
                                        <p:attrNameLst>
                                          <p:attrName>style.visibility</p:attrName>
                                        </p:attrNameLst>
                                      </p:cBhvr>
                                      <p:to>
                                        <p:strVal val="visible"/>
                                      </p:to>
                                    </p:set>
                                  </p:childTnLst>
                                </p:cTn>
                              </p:par>
                            </p:childTnLst>
                          </p:cTn>
                        </p:par>
                        <p:par>
                          <p:cTn id="27" fill="hold">
                            <p:stCondLst>
                              <p:cond delay="0"/>
                            </p:stCondLst>
                            <p:childTnLst>
                              <p:par>
                                <p:cTn id="28" presetID="16" presetClass="entr" presetSubtype="21" fill="hold" grpId="0" nodeType="afterEffect">
                                  <p:stCondLst>
                                    <p:cond delay="0"/>
                                  </p:stCondLst>
                                  <p:childTnLst>
                                    <p:set>
                                      <p:cBhvr>
                                        <p:cTn id="29" dur="1" fill="hold">
                                          <p:stCondLst>
                                            <p:cond delay="0"/>
                                          </p:stCondLst>
                                        </p:cTn>
                                        <p:tgtEl>
                                          <p:spTgt spid="7"/>
                                        </p:tgtEl>
                                        <p:attrNameLst>
                                          <p:attrName>style.visibility</p:attrName>
                                        </p:attrNameLst>
                                      </p:cBhvr>
                                      <p:to>
                                        <p:strVal val="visible"/>
                                      </p:to>
                                    </p:set>
                                    <p:animEffect transition="in" filter="barn(inVertical)">
                                      <p:cBhvr>
                                        <p:cTn id="30" dur="500"/>
                                        <p:tgtEl>
                                          <p:spTgt spid="7"/>
                                        </p:tgtEl>
                                      </p:cBhvr>
                                    </p:animEffec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4" grpId="0" animBg="1"/>
      <p:bldP spid="5" grpId="0" animBg="1"/>
      <p:bldP spid="7" grpId="0" animBg="1"/>
    </p:bldLst>
  </p:timing>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1645920" y="365759"/>
            <a:ext cx="8778240" cy="822960"/>
          </a:xfrm>
          <a:prstGeom prst="rect">
            <a:avLst/>
          </a:prstGeom>
          <a:noFill/>
          <a:ln/>
        </p:spPr>
        <p:txBody>
          <a:bodyPr wrap="square" rtlCol="0" anchor="ctr"/>
          <a:lstStyle/>
          <a:p>
            <a:pPr marL="0" indent="0" algn="ctr">
              <a:buNone/>
            </a:pPr>
            <a:r>
              <a:rPr lang="en-US" dirty="0">
                <a:latin typeface="Lucida Sans" panose="020B0602030504020204" pitchFamily="34" charset="0"/>
              </a:rPr>
              <a:t>Plan</a:t>
            </a:r>
            <a:endParaRPr lang="en-US" sz="3400" dirty="0">
              <a:latin typeface="Lucida Sans" panose="020B0602030504020204" pitchFamily="34" charset="0"/>
            </a:endParaRPr>
          </a:p>
        </p:txBody>
      </p:sp>
      <p:sp>
        <p:nvSpPr>
          <p:cNvPr id="14" name="numero-temps-3"/>
          <p:cNvSpPr txBox="1"/>
          <p:nvPr/>
        </p:nvSpPr>
        <p:spPr>
          <a:xfrm>
            <a:off x="7955280" y="1871829"/>
            <a:ext cx="731520" cy="1097280"/>
          </a:xfrm>
          <a:prstGeom prst="rect">
            <a:avLst/>
          </a:prstGeom>
          <a:noFill/>
          <a:ln/>
        </p:spPr>
        <p:txBody>
          <a:bodyPr wrap="square" lIns="0" tIns="0" rIns="0" bIns="0" rtlCol="0" anchor="ctr"/>
          <a:lstStyle/>
          <a:p>
            <a:pPr marL="0" indent="0">
              <a:buNone/>
            </a:pPr>
            <a:r>
              <a:rPr lang="en-US" sz="6600" b="1" dirty="0">
                <a:solidFill>
                  <a:schemeClr val="accent4"/>
                </a:solidFill>
                <a:latin typeface="Lucida Sans" panose="020B0602030504020204" pitchFamily="34" charset="0"/>
              </a:rPr>
              <a:t>3</a:t>
            </a:r>
            <a:endParaRPr lang="en-US" sz="6600" dirty="0">
              <a:solidFill>
                <a:schemeClr val="accent4"/>
              </a:solidFill>
              <a:latin typeface="Lucida Sans" panose="020B0602030504020204" pitchFamily="34" charset="0"/>
            </a:endParaRPr>
          </a:p>
        </p:txBody>
      </p:sp>
      <p:sp>
        <p:nvSpPr>
          <p:cNvPr id="5" name="temps-1"/>
          <p:cNvSpPr/>
          <p:nvPr/>
        </p:nvSpPr>
        <p:spPr>
          <a:xfrm>
            <a:off x="443753" y="2920701"/>
            <a:ext cx="3579607" cy="1097279"/>
          </a:xfrm>
          <a:prstGeom prst="roundRect">
            <a:avLst>
              <a:gd name="adj" fmla="val 3529"/>
            </a:avLst>
          </a:prstGeom>
          <a:solidFill>
            <a:srgbClr val="1B6E53"/>
          </a:solidFill>
          <a:ln w="12700">
            <a:solidFill>
              <a:srgbClr val="1B6E53"/>
            </a:solidFill>
            <a:prstDash val="solid"/>
          </a:ln>
          <a:effectLst>
            <a:outerShdw blurRad="50800" dist="38100" dir="10800000" algn="r" rotWithShape="0">
              <a:prstClr val="black">
                <a:alpha val="40000"/>
              </a:prstClr>
            </a:outerShdw>
          </a:effectLst>
        </p:spPr>
        <p:txBody>
          <a:bodyPr/>
          <a:lstStyle/>
          <a:p>
            <a:endParaRPr lang="fr-FR"/>
          </a:p>
        </p:txBody>
      </p:sp>
      <p:sp>
        <p:nvSpPr>
          <p:cNvPr id="6" name="numero-temps-1"/>
          <p:cNvSpPr txBox="1"/>
          <p:nvPr/>
        </p:nvSpPr>
        <p:spPr>
          <a:xfrm>
            <a:off x="443753" y="1909481"/>
            <a:ext cx="1097280" cy="1097280"/>
          </a:xfrm>
          <a:prstGeom prst="rect">
            <a:avLst/>
          </a:prstGeom>
          <a:noFill/>
          <a:ln/>
        </p:spPr>
        <p:txBody>
          <a:bodyPr wrap="square" lIns="0" tIns="0" rIns="0" bIns="0" rtlCol="0" anchor="ctr"/>
          <a:lstStyle/>
          <a:p>
            <a:pPr marL="0" indent="0">
              <a:buNone/>
            </a:pPr>
            <a:r>
              <a:rPr lang="en-US" sz="6600" b="1" dirty="0">
                <a:solidFill>
                  <a:srgbClr val="F2A541"/>
                </a:solidFill>
                <a:latin typeface="Lucida Sans" panose="020B0602030504020204" pitchFamily="34" charset="0"/>
              </a:rPr>
              <a:t>1</a:t>
            </a:r>
            <a:endParaRPr lang="en-US" sz="6600" dirty="0">
              <a:latin typeface="Lucida Sans" panose="020B0602030504020204" pitchFamily="34" charset="0"/>
            </a:endParaRPr>
          </a:p>
        </p:txBody>
      </p:sp>
      <p:sp>
        <p:nvSpPr>
          <p:cNvPr id="7" name="titre-temps-1"/>
          <p:cNvSpPr txBox="1"/>
          <p:nvPr/>
        </p:nvSpPr>
        <p:spPr>
          <a:xfrm>
            <a:off x="868680" y="3154680"/>
            <a:ext cx="2926080" cy="548640"/>
          </a:xfrm>
          <a:prstGeom prst="rect">
            <a:avLst/>
          </a:prstGeom>
          <a:noFill/>
          <a:ln/>
        </p:spPr>
        <p:txBody>
          <a:bodyPr wrap="square" lIns="0" tIns="0" rIns="0" bIns="0" rtlCol="0" anchor="ctr"/>
          <a:lstStyle/>
          <a:p>
            <a:pPr marL="0" indent="0">
              <a:buNone/>
            </a:pPr>
            <a:r>
              <a:rPr lang="en-US" sz="2400" b="1" dirty="0" err="1">
                <a:solidFill>
                  <a:srgbClr val="FFFFFF"/>
                </a:solidFill>
                <a:latin typeface="Lucida Sans" panose="020B0602030504020204" pitchFamily="34" charset="0"/>
              </a:rPr>
              <a:t>L’idée</a:t>
            </a:r>
            <a:endParaRPr lang="en-US" sz="2400" dirty="0">
              <a:latin typeface="Lucida Sans" panose="020B0602030504020204" pitchFamily="34" charset="0"/>
            </a:endParaRPr>
          </a:p>
        </p:txBody>
      </p:sp>
      <p:sp>
        <p:nvSpPr>
          <p:cNvPr id="9" name="temps-2"/>
          <p:cNvSpPr/>
          <p:nvPr/>
        </p:nvSpPr>
        <p:spPr>
          <a:xfrm>
            <a:off x="4297680" y="2969109"/>
            <a:ext cx="3474720" cy="1097280"/>
          </a:xfrm>
          <a:prstGeom prst="roundRect">
            <a:avLst>
              <a:gd name="adj" fmla="val 3529"/>
            </a:avLst>
          </a:prstGeom>
          <a:solidFill>
            <a:srgbClr val="EEF5F1"/>
          </a:solidFill>
          <a:ln w="12700">
            <a:solidFill>
              <a:srgbClr val="EEF5F1"/>
            </a:solidFill>
            <a:prstDash val="solid"/>
          </a:ln>
          <a:effectLst>
            <a:outerShdw blurRad="50800" dist="38100" dir="10800000" algn="r" rotWithShape="0">
              <a:prstClr val="black">
                <a:alpha val="40000"/>
              </a:prstClr>
            </a:outerShdw>
          </a:effectLst>
        </p:spPr>
        <p:txBody>
          <a:bodyPr/>
          <a:lstStyle/>
          <a:p>
            <a:endParaRPr lang="fr-FR">
              <a:solidFill>
                <a:schemeClr val="accent2"/>
              </a:solidFill>
            </a:endParaRPr>
          </a:p>
        </p:txBody>
      </p:sp>
      <p:sp>
        <p:nvSpPr>
          <p:cNvPr id="10" name="numero-temps-2"/>
          <p:cNvSpPr txBox="1"/>
          <p:nvPr/>
        </p:nvSpPr>
        <p:spPr>
          <a:xfrm>
            <a:off x="4297680" y="1940409"/>
            <a:ext cx="1097280" cy="1097280"/>
          </a:xfrm>
          <a:prstGeom prst="rect">
            <a:avLst/>
          </a:prstGeom>
          <a:noFill/>
          <a:ln/>
        </p:spPr>
        <p:txBody>
          <a:bodyPr wrap="square" lIns="0" tIns="0" rIns="0" bIns="0" rtlCol="0" anchor="ctr"/>
          <a:lstStyle/>
          <a:p>
            <a:pPr marL="0" indent="0">
              <a:buNone/>
            </a:pPr>
            <a:r>
              <a:rPr lang="en-US" sz="6600" b="1" dirty="0">
                <a:solidFill>
                  <a:srgbClr val="1B6E53"/>
                </a:solidFill>
                <a:latin typeface="Lucida Sans" panose="020B0602030504020204" pitchFamily="34" charset="0"/>
              </a:rPr>
              <a:t>2</a:t>
            </a:r>
            <a:endParaRPr lang="en-US" sz="6600" dirty="0">
              <a:latin typeface="Lucida Sans" panose="020B0602030504020204" pitchFamily="34" charset="0"/>
            </a:endParaRPr>
          </a:p>
        </p:txBody>
      </p:sp>
      <p:sp>
        <p:nvSpPr>
          <p:cNvPr id="11" name="titre-temps-2"/>
          <p:cNvSpPr txBox="1"/>
          <p:nvPr/>
        </p:nvSpPr>
        <p:spPr>
          <a:xfrm>
            <a:off x="4617720" y="3154680"/>
            <a:ext cx="2926080" cy="548640"/>
          </a:xfrm>
          <a:prstGeom prst="rect">
            <a:avLst/>
          </a:prstGeom>
          <a:noFill/>
          <a:ln/>
        </p:spPr>
        <p:txBody>
          <a:bodyPr wrap="square" lIns="0" tIns="0" rIns="0" bIns="0" rtlCol="0" anchor="ctr"/>
          <a:lstStyle/>
          <a:p>
            <a:pPr marL="0" indent="0">
              <a:buNone/>
            </a:pPr>
            <a:endParaRPr lang="en-US" sz="2400" dirty="0"/>
          </a:p>
        </p:txBody>
      </p:sp>
      <p:sp>
        <p:nvSpPr>
          <p:cNvPr id="12" name="texte-temps-2"/>
          <p:cNvSpPr txBox="1"/>
          <p:nvPr/>
        </p:nvSpPr>
        <p:spPr>
          <a:xfrm>
            <a:off x="4590826" y="3203091"/>
            <a:ext cx="2834640" cy="1097280"/>
          </a:xfrm>
          <a:prstGeom prst="rect">
            <a:avLst/>
          </a:prstGeom>
          <a:noFill/>
          <a:ln/>
        </p:spPr>
        <p:txBody>
          <a:bodyPr wrap="square" lIns="0" tIns="0" rIns="0" bIns="0" rtlCol="0" anchor="t"/>
          <a:lstStyle/>
          <a:p>
            <a:pPr marL="0" indent="0">
              <a:buNone/>
            </a:pPr>
            <a:r>
              <a:rPr lang="en-US" sz="2400" dirty="0" err="1">
                <a:latin typeface="Lucida Sans" panose="020B0602030504020204" pitchFamily="34" charset="0"/>
              </a:rPr>
              <a:t>Intégration</a:t>
            </a:r>
            <a:r>
              <a:rPr lang="en-US" sz="2400" dirty="0">
                <a:latin typeface="Lucida Sans" panose="020B0602030504020204" pitchFamily="34" charset="0"/>
              </a:rPr>
              <a:t> au réseau 5G </a:t>
            </a:r>
          </a:p>
        </p:txBody>
      </p:sp>
      <p:sp>
        <p:nvSpPr>
          <p:cNvPr id="17" name="temps-2">
            <a:extLst>
              <a:ext uri="{FF2B5EF4-FFF2-40B4-BE49-F238E27FC236}">
                <a16:creationId xmlns:a16="http://schemas.microsoft.com/office/drawing/2014/main" id="{3CAA5825-9BA4-A0C9-4354-365B557424B7}"/>
              </a:ext>
            </a:extLst>
          </p:cNvPr>
          <p:cNvSpPr/>
          <p:nvPr/>
        </p:nvSpPr>
        <p:spPr>
          <a:xfrm>
            <a:off x="7955280" y="2969109"/>
            <a:ext cx="3474720" cy="1097280"/>
          </a:xfrm>
          <a:prstGeom prst="roundRect">
            <a:avLst>
              <a:gd name="adj" fmla="val 3529"/>
            </a:avLst>
          </a:prstGeom>
          <a:solidFill>
            <a:schemeClr val="accent2"/>
          </a:solidFill>
          <a:ln w="12700">
            <a:noFill/>
            <a:prstDash val="solid"/>
          </a:ln>
          <a:effectLst>
            <a:outerShdw blurRad="50800" dist="38100" dir="10800000" algn="r" rotWithShape="0">
              <a:prstClr val="black">
                <a:alpha val="40000"/>
              </a:prstClr>
            </a:outerShdw>
          </a:effectLst>
        </p:spPr>
        <p:txBody>
          <a:bodyPr/>
          <a:lstStyle/>
          <a:p>
            <a:endParaRPr lang="fr-FR"/>
          </a:p>
        </p:txBody>
      </p:sp>
      <p:sp>
        <p:nvSpPr>
          <p:cNvPr id="15" name="titre-temps-3"/>
          <p:cNvSpPr txBox="1"/>
          <p:nvPr/>
        </p:nvSpPr>
        <p:spPr>
          <a:xfrm>
            <a:off x="8366760" y="3154680"/>
            <a:ext cx="2926080" cy="548640"/>
          </a:xfrm>
          <a:prstGeom prst="rect">
            <a:avLst/>
          </a:prstGeom>
          <a:noFill/>
          <a:ln/>
        </p:spPr>
        <p:txBody>
          <a:bodyPr wrap="square" lIns="0" tIns="0" rIns="0" bIns="0" rtlCol="0" anchor="ctr"/>
          <a:lstStyle/>
          <a:p>
            <a:pPr marL="0" indent="0">
              <a:buNone/>
            </a:pPr>
            <a:r>
              <a:rPr lang="en-US" sz="2400" b="1" dirty="0">
                <a:solidFill>
                  <a:srgbClr val="17312A"/>
                </a:solidFill>
                <a:latin typeface="Lucida Sans" panose="020B0602030504020204" pitchFamily="34" charset="0"/>
              </a:rPr>
              <a:t>Démonstration</a:t>
            </a:r>
            <a:endParaRPr lang="en-US" sz="2400" dirty="0">
              <a:latin typeface="Lucida Sans" panose="020B0602030504020204" pitchFamily="34" charset="0"/>
            </a:endParaRPr>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F6B7A"/>
                </a:solidFill>
              </a:defRPr>
            </a:lvl1pPr>
          </a:lstStyle>
          <a:p>
            <a:pPr algn="r"/>
            <a:fld id="{F7021451-1387-4CA6-816F-3879F97B5CBC}" type="slidenum">
              <a:rPr lang="en-US" b="0"/>
              <a:t>2</a:t>
            </a:fld>
            <a:endParaRPr lang="en-US"/>
          </a:p>
        </p:txBody>
      </p:sp>
      <p:sp>
        <p:nvSpPr>
          <p:cNvPr id="21" name="ZoneTexte 20">
            <a:extLst>
              <a:ext uri="{FF2B5EF4-FFF2-40B4-BE49-F238E27FC236}">
                <a16:creationId xmlns:a16="http://schemas.microsoft.com/office/drawing/2014/main" id="{73F9CE4B-FC39-F681-75E5-B469D2CF38D5}"/>
              </a:ext>
            </a:extLst>
          </p:cNvPr>
          <p:cNvSpPr txBox="1"/>
          <p:nvPr/>
        </p:nvSpPr>
        <p:spPr>
          <a:xfrm>
            <a:off x="537882" y="6400800"/>
            <a:ext cx="3485478" cy="276999"/>
          </a:xfrm>
          <a:prstGeom prst="rect">
            <a:avLst/>
          </a:prstGeom>
          <a:solidFill>
            <a:schemeClr val="bg1"/>
          </a:solidFill>
        </p:spPr>
        <p:txBody>
          <a:bodyPr wrap="square" rtlCol="0">
            <a:spAutoFit/>
          </a:bodyPr>
          <a:lstStyle/>
          <a:p>
            <a:r>
              <a:rPr lang="fr-FR" sz="1200" dirty="0" err="1">
                <a:latin typeface="Lucida Sans" panose="020B0602030504020204" pitchFamily="34" charset="0"/>
              </a:rPr>
              <a:t>MyWay</a:t>
            </a:r>
            <a:r>
              <a:rPr lang="fr-FR" sz="1200" dirty="0">
                <a:latin typeface="Lucida Sans" panose="020B0602030504020204" pitchFamily="34" charset="0"/>
              </a:rPr>
              <a:t> – DiGITAfrikca2026</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4" presetClass="entr" presetSubtype="16" fill="hold" grpId="0" nodeType="clickEffect">
                                  <p:stCondLst>
                                    <p:cond delay="0"/>
                                  </p:stCondLst>
                                  <p:childTnLst>
                                    <p:set>
                                      <p:cBhvr>
                                        <p:cTn id="18" dur="1" fill="hold">
                                          <p:stCondLst>
                                            <p:cond delay="0"/>
                                          </p:stCondLst>
                                        </p:cTn>
                                        <p:tgtEl>
                                          <p:spTgt spid="5"/>
                                        </p:tgtEl>
                                        <p:attrNameLst>
                                          <p:attrName>style.visibility</p:attrName>
                                        </p:attrNameLst>
                                      </p:cBhvr>
                                      <p:to>
                                        <p:strVal val="visible"/>
                                      </p:to>
                                    </p:set>
                                    <p:animEffect transition="in" filter="box(in)">
                                      <p:cBhvr>
                                        <p:cTn id="19" dur="500"/>
                                        <p:tgtEl>
                                          <p:spTgt spid="5"/>
                                        </p:tgtEl>
                                      </p:cBhvr>
                                    </p:animEffect>
                                  </p:childTnLst>
                                </p:cTn>
                              </p:par>
                            </p:childTnLst>
                          </p:cTn>
                        </p:par>
                      </p:childTnLst>
                    </p:cTn>
                  </p:par>
                  <p:par>
                    <p:cTn id="20" fill="hold">
                      <p:stCondLst>
                        <p:cond delay="indefinite"/>
                      </p:stCondLst>
                      <p:childTnLst>
                        <p:par>
                          <p:cTn id="21" fill="hold">
                            <p:stCondLst>
                              <p:cond delay="0"/>
                            </p:stCondLst>
                            <p:childTnLst>
                              <p:par>
                                <p:cTn id="22" presetID="16" presetClass="entr" presetSubtype="21" fill="hold" grpId="0" nodeType="clickEffect">
                                  <p:stCondLst>
                                    <p:cond delay="0"/>
                                  </p:stCondLst>
                                  <p:childTnLst>
                                    <p:set>
                                      <p:cBhvr>
                                        <p:cTn id="23" dur="1" fill="hold">
                                          <p:stCondLst>
                                            <p:cond delay="0"/>
                                          </p:stCondLst>
                                        </p:cTn>
                                        <p:tgtEl>
                                          <p:spTgt spid="7"/>
                                        </p:tgtEl>
                                        <p:attrNameLst>
                                          <p:attrName>style.visibility</p:attrName>
                                        </p:attrNameLst>
                                      </p:cBhvr>
                                      <p:to>
                                        <p:strVal val="visible"/>
                                      </p:to>
                                    </p:set>
                                    <p:animEffect transition="in" filter="barn(inVertical)">
                                      <p:cBhvr>
                                        <p:cTn id="24" dur="500"/>
                                        <p:tgtEl>
                                          <p:spTgt spid="7"/>
                                        </p:tgtEl>
                                      </p:cBhvr>
                                    </p:animEffect>
                                  </p:childTnLst>
                                </p:cTn>
                              </p:par>
                            </p:childTnLst>
                          </p:cTn>
                        </p:par>
                      </p:childTnLst>
                    </p:cTn>
                  </p:par>
                  <p:par>
                    <p:cTn id="25" fill="hold">
                      <p:stCondLst>
                        <p:cond delay="indefinite"/>
                      </p:stCondLst>
                      <p:childTnLst>
                        <p:par>
                          <p:cTn id="26" fill="hold">
                            <p:stCondLst>
                              <p:cond delay="0"/>
                            </p:stCondLst>
                            <p:childTnLst>
                              <p:par>
                                <p:cTn id="27" presetID="4" presetClass="entr" presetSubtype="16" fill="hold" grpId="0" nodeType="clickEffect">
                                  <p:stCondLst>
                                    <p:cond delay="0"/>
                                  </p:stCondLst>
                                  <p:childTnLst>
                                    <p:set>
                                      <p:cBhvr>
                                        <p:cTn id="28" dur="1" fill="hold">
                                          <p:stCondLst>
                                            <p:cond delay="0"/>
                                          </p:stCondLst>
                                        </p:cTn>
                                        <p:tgtEl>
                                          <p:spTgt spid="9"/>
                                        </p:tgtEl>
                                        <p:attrNameLst>
                                          <p:attrName>style.visibility</p:attrName>
                                        </p:attrNameLst>
                                      </p:cBhvr>
                                      <p:to>
                                        <p:strVal val="visible"/>
                                      </p:to>
                                    </p:set>
                                    <p:animEffect transition="in" filter="box(in)">
                                      <p:cBhvr>
                                        <p:cTn id="29" dur="500"/>
                                        <p:tgtEl>
                                          <p:spTgt spid="9"/>
                                        </p:tgtEl>
                                      </p:cBhvr>
                                    </p:animEffect>
                                  </p:childTnLst>
                                </p:cTn>
                              </p:par>
                            </p:childTnLst>
                          </p:cTn>
                        </p:par>
                      </p:childTnLst>
                    </p:cTn>
                  </p:par>
                  <p:par>
                    <p:cTn id="30" fill="hold">
                      <p:stCondLst>
                        <p:cond delay="indefinite"/>
                      </p:stCondLst>
                      <p:childTnLst>
                        <p:par>
                          <p:cTn id="31" fill="hold">
                            <p:stCondLst>
                              <p:cond delay="0"/>
                            </p:stCondLst>
                            <p:childTnLst>
                              <p:par>
                                <p:cTn id="32" presetID="16" presetClass="entr" presetSubtype="21" fill="hold" grpId="0" nodeType="clickEffect">
                                  <p:stCondLst>
                                    <p:cond delay="0"/>
                                  </p:stCondLst>
                                  <p:childTnLst>
                                    <p:set>
                                      <p:cBhvr>
                                        <p:cTn id="33" dur="1" fill="hold">
                                          <p:stCondLst>
                                            <p:cond delay="0"/>
                                          </p:stCondLst>
                                        </p:cTn>
                                        <p:tgtEl>
                                          <p:spTgt spid="12"/>
                                        </p:tgtEl>
                                        <p:attrNameLst>
                                          <p:attrName>style.visibility</p:attrName>
                                        </p:attrNameLst>
                                      </p:cBhvr>
                                      <p:to>
                                        <p:strVal val="visible"/>
                                      </p:to>
                                    </p:set>
                                    <p:animEffect transition="in" filter="barn(inVertical)">
                                      <p:cBhvr>
                                        <p:cTn id="34" dur="500"/>
                                        <p:tgtEl>
                                          <p:spTgt spid="12"/>
                                        </p:tgtEl>
                                      </p:cBhvr>
                                    </p:animEffect>
                                  </p:childTnLst>
                                </p:cTn>
                              </p:par>
                            </p:childTnLst>
                          </p:cTn>
                        </p:par>
                      </p:childTnLst>
                    </p:cTn>
                  </p:par>
                  <p:par>
                    <p:cTn id="35" fill="hold">
                      <p:stCondLst>
                        <p:cond delay="indefinite"/>
                      </p:stCondLst>
                      <p:childTnLst>
                        <p:par>
                          <p:cTn id="36" fill="hold">
                            <p:stCondLst>
                              <p:cond delay="0"/>
                            </p:stCondLst>
                            <p:childTnLst>
                              <p:par>
                                <p:cTn id="37" presetID="4" presetClass="entr" presetSubtype="16" fill="hold" grpId="0" nodeType="clickEffect">
                                  <p:stCondLst>
                                    <p:cond delay="0"/>
                                  </p:stCondLst>
                                  <p:childTnLst>
                                    <p:set>
                                      <p:cBhvr>
                                        <p:cTn id="38" dur="1" fill="hold">
                                          <p:stCondLst>
                                            <p:cond delay="0"/>
                                          </p:stCondLst>
                                        </p:cTn>
                                        <p:tgtEl>
                                          <p:spTgt spid="17"/>
                                        </p:tgtEl>
                                        <p:attrNameLst>
                                          <p:attrName>style.visibility</p:attrName>
                                        </p:attrNameLst>
                                      </p:cBhvr>
                                      <p:to>
                                        <p:strVal val="visible"/>
                                      </p:to>
                                    </p:set>
                                    <p:animEffect transition="in" filter="box(in)">
                                      <p:cBhvr>
                                        <p:cTn id="39" dur="500"/>
                                        <p:tgtEl>
                                          <p:spTgt spid="17"/>
                                        </p:tgtEl>
                                      </p:cBhvr>
                                    </p:animEffect>
                                  </p:childTnLst>
                                </p:cTn>
                              </p:par>
                            </p:childTnLst>
                          </p:cTn>
                        </p:par>
                      </p:childTnLst>
                    </p:cTn>
                  </p:par>
                  <p:par>
                    <p:cTn id="40" fill="hold">
                      <p:stCondLst>
                        <p:cond delay="indefinite"/>
                      </p:stCondLst>
                      <p:childTnLst>
                        <p:par>
                          <p:cTn id="41" fill="hold">
                            <p:stCondLst>
                              <p:cond delay="0"/>
                            </p:stCondLst>
                            <p:childTnLst>
                              <p:par>
                                <p:cTn id="42" presetID="16" presetClass="entr" presetSubtype="21" fill="hold" grpId="0" nodeType="clickEffect">
                                  <p:stCondLst>
                                    <p:cond delay="0"/>
                                  </p:stCondLst>
                                  <p:childTnLst>
                                    <p:set>
                                      <p:cBhvr>
                                        <p:cTn id="43" dur="1" fill="hold">
                                          <p:stCondLst>
                                            <p:cond delay="0"/>
                                          </p:stCondLst>
                                        </p:cTn>
                                        <p:tgtEl>
                                          <p:spTgt spid="15"/>
                                        </p:tgtEl>
                                        <p:attrNameLst>
                                          <p:attrName>style.visibility</p:attrName>
                                        </p:attrNameLst>
                                      </p:cBhvr>
                                      <p:to>
                                        <p:strVal val="visible"/>
                                      </p:to>
                                    </p:set>
                                    <p:animEffect transition="in" filter="barn(inVertical)">
                                      <p:cBhvr>
                                        <p:cTn id="44"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P spid="5" grpId="0" animBg="1"/>
      <p:bldP spid="6" grpId="0" animBg="1"/>
      <p:bldP spid="7" grpId="0" animBg="1"/>
      <p:bldP spid="9" grpId="0" animBg="1"/>
      <p:bldP spid="10" grpId="0" animBg="1"/>
      <p:bldP spid="12" grpId="0" animBg="1"/>
      <p:bldP spid="17" grpId="0" animBg="1"/>
      <p:bldP spid="15"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11480"/>
            <a:ext cx="8778240" cy="822960"/>
          </a:xfrm>
          <a:prstGeom prst="rect">
            <a:avLst/>
          </a:prstGeom>
          <a:noFill/>
          <a:ln/>
        </p:spPr>
        <p:txBody>
          <a:bodyPr wrap="square" rtlCol="0" anchor="ctr"/>
          <a:lstStyle/>
          <a:p>
            <a:pPr marL="0" indent="0" algn="l">
              <a:buNone/>
            </a:pPr>
            <a:r>
              <a:rPr lang="en-US" dirty="0" err="1">
                <a:latin typeface="Lucida Sans" panose="020B0602030504020204" pitchFamily="34" charset="0"/>
              </a:rPr>
              <a:t>Problématiques</a:t>
            </a:r>
            <a:endParaRPr lang="en-US" sz="3400" dirty="0">
              <a:latin typeface="Lucida Sans" panose="020B0602030504020204" pitchFamily="34" charset="0"/>
            </a:endParaRPr>
          </a:p>
        </p:txBody>
      </p:sp>
      <p:sp>
        <p:nvSpPr>
          <p:cNvPr id="3" name="pastille-partie"/>
          <p:cNvSpPr/>
          <p:nvPr/>
        </p:nvSpPr>
        <p:spPr>
          <a:xfrm>
            <a:off x="9601200" y="432457"/>
            <a:ext cx="2103120" cy="457200"/>
          </a:xfrm>
          <a:prstGeom prst="roundRect">
            <a:avLst>
              <a:gd name="adj" fmla="val 50000"/>
            </a:avLst>
          </a:prstGeom>
          <a:solidFill>
            <a:schemeClr val="tx2"/>
          </a:solidFill>
          <a:ln w="12700">
            <a:noFill/>
            <a:prstDash val="solid"/>
          </a:ln>
        </p:spPr>
        <p:txBody>
          <a:bodyPr/>
          <a:lstStyle/>
          <a:p>
            <a:endParaRPr lang="fr-FR"/>
          </a:p>
        </p:txBody>
      </p:sp>
      <p:sp>
        <p:nvSpPr>
          <p:cNvPr id="4" name="texte-pastille-partie"/>
          <p:cNvSpPr txBox="1"/>
          <p:nvPr/>
        </p:nvSpPr>
        <p:spPr>
          <a:xfrm>
            <a:off x="9601200" y="445367"/>
            <a:ext cx="2103120" cy="457200"/>
          </a:xfrm>
          <a:prstGeom prst="rect">
            <a:avLst/>
          </a:prstGeom>
          <a:noFill/>
          <a:ln/>
        </p:spPr>
        <p:txBody>
          <a:bodyPr wrap="square" lIns="0" tIns="0" rIns="0" bIns="0" rtlCol="0" anchor="ctr"/>
          <a:lstStyle/>
          <a:p>
            <a:pPr marL="0" indent="0" algn="ctr">
              <a:buNone/>
            </a:pPr>
            <a:r>
              <a:rPr lang="en-US" sz="1300" b="1" dirty="0">
                <a:solidFill>
                  <a:schemeClr val="bg1"/>
                </a:solidFill>
                <a:latin typeface="Lucida Sans" panose="020B0602030504020204" pitchFamily="34" charset="0"/>
              </a:rPr>
              <a:t>Partie 1 · L'idée</a:t>
            </a:r>
            <a:endParaRPr lang="en-US" sz="1300" dirty="0">
              <a:solidFill>
                <a:schemeClr val="bg1"/>
              </a:solidFill>
              <a:latin typeface="Lucida Sans" panose="020B0602030504020204" pitchFamily="34" charset="0"/>
            </a:endParaRPr>
          </a:p>
        </p:txBody>
      </p:sp>
      <p:sp>
        <p:nvSpPr>
          <p:cNvPr id="5" name="probleme-1"/>
          <p:cNvSpPr/>
          <p:nvPr/>
        </p:nvSpPr>
        <p:spPr>
          <a:xfrm>
            <a:off x="548640" y="1508760"/>
            <a:ext cx="11064240" cy="1280160"/>
          </a:xfrm>
          <a:prstGeom prst="roundRect">
            <a:avLst>
              <a:gd name="adj" fmla="val 8571"/>
            </a:avLst>
          </a:prstGeom>
          <a:solidFill>
            <a:srgbClr val="EEF5F1"/>
          </a:solidFill>
          <a:ln w="12700">
            <a:solidFill>
              <a:srgbClr val="EEF5F1"/>
            </a:solidFill>
            <a:prstDash val="solid"/>
          </a:ln>
        </p:spPr>
        <p:txBody>
          <a:bodyPr/>
          <a:lstStyle/>
          <a:p>
            <a:endParaRPr lang="fr-FR"/>
          </a:p>
        </p:txBody>
      </p:sp>
      <p:sp>
        <p:nvSpPr>
          <p:cNvPr id="6" name="cercle-probleme-1"/>
          <p:cNvSpPr/>
          <p:nvPr/>
        </p:nvSpPr>
        <p:spPr>
          <a:xfrm>
            <a:off x="822960" y="1783080"/>
            <a:ext cx="731520" cy="731520"/>
          </a:xfrm>
          <a:prstGeom prst="ellipse">
            <a:avLst/>
          </a:prstGeom>
          <a:solidFill>
            <a:srgbClr val="FFFFFF"/>
          </a:solidFill>
          <a:ln w="12700">
            <a:solidFill>
              <a:srgbClr val="FFFFFF"/>
            </a:solidFill>
            <a:prstDash val="solid"/>
          </a:ln>
        </p:spPr>
        <p:txBody>
          <a:bodyPr/>
          <a:lstStyle/>
          <a:p>
            <a:endParaRPr lang="fr-FR"/>
          </a:p>
        </p:txBody>
      </p:sp>
      <p:pic>
        <p:nvPicPr>
          <p:cNvPr id="7" name="icone-probleme-1" descr="preencoded.png"/>
          <p:cNvPicPr>
            <a:picLocks noChangeAspect="1"/>
          </p:cNvPicPr>
          <p:nvPr/>
        </p:nvPicPr>
        <p:blipFill>
          <a:blip r:embed="rId3"/>
          <a:stretch>
            <a:fillRect/>
          </a:stretch>
        </p:blipFill>
        <p:spPr>
          <a:xfrm>
            <a:off x="1005840" y="1965960"/>
            <a:ext cx="365760" cy="365760"/>
          </a:xfrm>
          <a:prstGeom prst="rect">
            <a:avLst/>
          </a:prstGeom>
        </p:spPr>
      </p:pic>
      <p:sp>
        <p:nvSpPr>
          <p:cNvPr id="8" name="titre-probleme-1"/>
          <p:cNvSpPr txBox="1"/>
          <p:nvPr/>
        </p:nvSpPr>
        <p:spPr>
          <a:xfrm>
            <a:off x="1828800" y="1709928"/>
            <a:ext cx="9509760" cy="411480"/>
          </a:xfrm>
          <a:prstGeom prst="rect">
            <a:avLst/>
          </a:prstGeom>
          <a:noFill/>
          <a:ln/>
        </p:spPr>
        <p:txBody>
          <a:bodyPr wrap="square" lIns="0" tIns="0" rIns="0" bIns="0" rtlCol="0" anchor="ctr"/>
          <a:lstStyle/>
          <a:p>
            <a:pPr marL="0" indent="0">
              <a:buNone/>
            </a:pPr>
            <a:r>
              <a:rPr lang="en-US" sz="2100" b="1" dirty="0">
                <a:solidFill>
                  <a:schemeClr val="tx1"/>
                </a:solidFill>
                <a:latin typeface="Lucida Sans" panose="020B0602030504020204" pitchFamily="34" charset="0"/>
              </a:rPr>
              <a:t>Un grand campus </a:t>
            </a:r>
            <a:endParaRPr lang="en-US" sz="2100" dirty="0">
              <a:latin typeface="Lucida Sans" panose="020B0602030504020204" pitchFamily="34" charset="0"/>
            </a:endParaRPr>
          </a:p>
        </p:txBody>
      </p:sp>
      <p:sp>
        <p:nvSpPr>
          <p:cNvPr id="9" name="texte-probleme-1"/>
          <p:cNvSpPr txBox="1"/>
          <p:nvPr/>
        </p:nvSpPr>
        <p:spPr>
          <a:xfrm>
            <a:off x="1828800" y="2148840"/>
            <a:ext cx="9509760" cy="457200"/>
          </a:xfrm>
          <a:prstGeom prst="rect">
            <a:avLst/>
          </a:prstGeom>
          <a:noFill/>
          <a:ln/>
        </p:spPr>
        <p:txBody>
          <a:bodyPr wrap="square" lIns="0" tIns="0" rIns="0" bIns="0" rtlCol="0" anchor="ctr"/>
          <a:lstStyle/>
          <a:p>
            <a:pPr marL="0" indent="0">
              <a:buNone/>
            </a:pPr>
            <a:r>
              <a:rPr lang="en-US" sz="1600" dirty="0">
                <a:solidFill>
                  <a:srgbClr val="5F6B7A"/>
                </a:solidFill>
                <a:latin typeface="Lucida Sans" panose="020B0602030504020204" pitchFamily="34" charset="0"/>
              </a:rPr>
              <a:t>Direction, scolarité, amphis, auditorium, restaurant, résidences : les bâtiments sont dispersés et les panneaux rares.</a:t>
            </a:r>
            <a:endParaRPr lang="en-US" sz="1600" dirty="0">
              <a:latin typeface="Lucida Sans" panose="020B0602030504020204" pitchFamily="34" charset="0"/>
            </a:endParaRPr>
          </a:p>
        </p:txBody>
      </p:sp>
      <p:sp>
        <p:nvSpPr>
          <p:cNvPr id="10" name="probleme-2"/>
          <p:cNvSpPr/>
          <p:nvPr/>
        </p:nvSpPr>
        <p:spPr>
          <a:xfrm>
            <a:off x="548640" y="3017520"/>
            <a:ext cx="11064240" cy="1280160"/>
          </a:xfrm>
          <a:prstGeom prst="roundRect">
            <a:avLst>
              <a:gd name="adj" fmla="val 8571"/>
            </a:avLst>
          </a:prstGeom>
          <a:solidFill>
            <a:srgbClr val="EEF5F1"/>
          </a:solidFill>
          <a:ln w="12700">
            <a:solidFill>
              <a:srgbClr val="EEF5F1"/>
            </a:solidFill>
            <a:prstDash val="solid"/>
          </a:ln>
        </p:spPr>
        <p:txBody>
          <a:bodyPr/>
          <a:lstStyle/>
          <a:p>
            <a:endParaRPr lang="fr-FR"/>
          </a:p>
        </p:txBody>
      </p:sp>
      <p:sp>
        <p:nvSpPr>
          <p:cNvPr id="11" name="cercle-probleme-2"/>
          <p:cNvSpPr/>
          <p:nvPr/>
        </p:nvSpPr>
        <p:spPr>
          <a:xfrm>
            <a:off x="822960" y="3291840"/>
            <a:ext cx="731520" cy="731520"/>
          </a:xfrm>
          <a:prstGeom prst="ellipse">
            <a:avLst/>
          </a:prstGeom>
          <a:solidFill>
            <a:srgbClr val="FFFFFF"/>
          </a:solidFill>
          <a:ln w="12700">
            <a:solidFill>
              <a:srgbClr val="FFFFFF"/>
            </a:solidFill>
            <a:prstDash val="solid"/>
          </a:ln>
        </p:spPr>
        <p:txBody>
          <a:bodyPr/>
          <a:lstStyle/>
          <a:p>
            <a:endParaRPr lang="fr-FR"/>
          </a:p>
        </p:txBody>
      </p:sp>
      <p:pic>
        <p:nvPicPr>
          <p:cNvPr id="12" name="icone-probleme-2" descr="preencoded.png"/>
          <p:cNvPicPr>
            <a:picLocks noChangeAspect="1"/>
          </p:cNvPicPr>
          <p:nvPr/>
        </p:nvPicPr>
        <p:blipFill>
          <a:blip r:embed="rId4"/>
          <a:stretch>
            <a:fillRect/>
          </a:stretch>
        </p:blipFill>
        <p:spPr>
          <a:xfrm>
            <a:off x="1005840" y="3474720"/>
            <a:ext cx="365760" cy="365760"/>
          </a:xfrm>
          <a:prstGeom prst="rect">
            <a:avLst/>
          </a:prstGeom>
        </p:spPr>
      </p:pic>
      <p:sp>
        <p:nvSpPr>
          <p:cNvPr id="13" name="titre-probleme-2"/>
          <p:cNvSpPr txBox="1"/>
          <p:nvPr/>
        </p:nvSpPr>
        <p:spPr>
          <a:xfrm>
            <a:off x="1828800" y="3218688"/>
            <a:ext cx="9509760" cy="411480"/>
          </a:xfrm>
          <a:prstGeom prst="rect">
            <a:avLst/>
          </a:prstGeom>
          <a:noFill/>
          <a:ln/>
        </p:spPr>
        <p:txBody>
          <a:bodyPr wrap="square" lIns="0" tIns="0" rIns="0" bIns="0" rtlCol="0" anchor="ctr"/>
          <a:lstStyle/>
          <a:p>
            <a:pPr marL="0" indent="0">
              <a:buNone/>
            </a:pPr>
            <a:r>
              <a:rPr lang="en-US" sz="2100" b="1" dirty="0">
                <a:solidFill>
                  <a:schemeClr val="tx1"/>
                </a:solidFill>
                <a:latin typeface="Lucida Sans" panose="020B0602030504020204" pitchFamily="34" charset="0"/>
              </a:rPr>
              <a:t>Des cartes en ligne qui ne suffisent pas</a:t>
            </a:r>
            <a:endParaRPr lang="en-US" sz="2100" dirty="0">
              <a:latin typeface="Lucida Sans" panose="020B0602030504020204" pitchFamily="34" charset="0"/>
            </a:endParaRPr>
          </a:p>
        </p:txBody>
      </p:sp>
      <p:sp>
        <p:nvSpPr>
          <p:cNvPr id="14" name="texte-probleme-2"/>
          <p:cNvSpPr txBox="1"/>
          <p:nvPr/>
        </p:nvSpPr>
        <p:spPr>
          <a:xfrm>
            <a:off x="1828800" y="3657600"/>
            <a:ext cx="9509760" cy="457200"/>
          </a:xfrm>
          <a:prstGeom prst="rect">
            <a:avLst/>
          </a:prstGeom>
          <a:noFill/>
          <a:ln/>
        </p:spPr>
        <p:txBody>
          <a:bodyPr wrap="square" lIns="0" tIns="0" rIns="0" bIns="0" rtlCol="0" anchor="ctr"/>
          <a:lstStyle/>
          <a:p>
            <a:pPr marL="0" indent="0">
              <a:buNone/>
            </a:pPr>
            <a:r>
              <a:rPr lang="en-US" sz="1600" dirty="0">
                <a:solidFill>
                  <a:srgbClr val="5F6B7A"/>
                </a:solidFill>
                <a:latin typeface="Lucida Sans" panose="020B0602030504020204" pitchFamily="34" charset="0"/>
              </a:rPr>
              <a:t>Google Maps ne </a:t>
            </a:r>
            <a:r>
              <a:rPr lang="en-US" sz="1600" dirty="0" err="1">
                <a:solidFill>
                  <a:srgbClr val="5F6B7A"/>
                </a:solidFill>
                <a:latin typeface="Lucida Sans" panose="020B0602030504020204" pitchFamily="34" charset="0"/>
              </a:rPr>
              <a:t>connaît</a:t>
            </a:r>
            <a:r>
              <a:rPr lang="en-US" sz="1600" dirty="0">
                <a:solidFill>
                  <a:srgbClr val="5F6B7A"/>
                </a:solidFill>
                <a:latin typeface="Lucida Sans" panose="020B0602030504020204" pitchFamily="34" charset="0"/>
              </a:rPr>
              <a:t> pas le nom de la </a:t>
            </a:r>
            <a:r>
              <a:rPr lang="en-US" sz="1600" dirty="0" err="1">
                <a:solidFill>
                  <a:srgbClr val="5F6B7A"/>
                </a:solidFill>
                <a:latin typeface="Lucida Sans" panose="020B0602030504020204" pitchFamily="34" charset="0"/>
              </a:rPr>
              <a:t>plupart</a:t>
            </a:r>
            <a:r>
              <a:rPr lang="en-US" sz="1600" dirty="0">
                <a:solidFill>
                  <a:srgbClr val="5F6B7A"/>
                </a:solidFill>
                <a:latin typeface="Lucida Sans" panose="020B0602030504020204" pitchFamily="34" charset="0"/>
              </a:rPr>
              <a:t> des </a:t>
            </a:r>
            <a:r>
              <a:rPr lang="en-US" sz="1600" dirty="0" err="1">
                <a:solidFill>
                  <a:srgbClr val="5F6B7A"/>
                </a:solidFill>
                <a:latin typeface="Lucida Sans" panose="020B0602030504020204" pitchFamily="34" charset="0"/>
              </a:rPr>
              <a:t>bâtments</a:t>
            </a:r>
            <a:endParaRPr lang="en-US" sz="1600" dirty="0"/>
          </a:p>
        </p:txBody>
      </p:sp>
      <p:sp>
        <p:nvSpPr>
          <p:cNvPr id="15" name="probleme-3"/>
          <p:cNvSpPr/>
          <p:nvPr/>
        </p:nvSpPr>
        <p:spPr>
          <a:xfrm>
            <a:off x="548640" y="4526280"/>
            <a:ext cx="11064240" cy="1280160"/>
          </a:xfrm>
          <a:prstGeom prst="roundRect">
            <a:avLst>
              <a:gd name="adj" fmla="val 8571"/>
            </a:avLst>
          </a:prstGeom>
          <a:solidFill>
            <a:srgbClr val="EEF5F1"/>
          </a:solidFill>
          <a:ln w="12700">
            <a:solidFill>
              <a:srgbClr val="EEF5F1"/>
            </a:solidFill>
            <a:prstDash val="solid"/>
          </a:ln>
        </p:spPr>
        <p:txBody>
          <a:bodyPr/>
          <a:lstStyle/>
          <a:p>
            <a:endParaRPr lang="fr-FR"/>
          </a:p>
        </p:txBody>
      </p:sp>
      <p:sp>
        <p:nvSpPr>
          <p:cNvPr id="16" name="cercle-probleme-3"/>
          <p:cNvSpPr/>
          <p:nvPr/>
        </p:nvSpPr>
        <p:spPr>
          <a:xfrm>
            <a:off x="822960" y="4800600"/>
            <a:ext cx="731520" cy="731520"/>
          </a:xfrm>
          <a:prstGeom prst="ellipse">
            <a:avLst/>
          </a:prstGeom>
          <a:solidFill>
            <a:srgbClr val="FFFFFF"/>
          </a:solidFill>
          <a:ln w="12700">
            <a:solidFill>
              <a:srgbClr val="FFFFFF"/>
            </a:solidFill>
            <a:prstDash val="solid"/>
          </a:ln>
        </p:spPr>
        <p:txBody>
          <a:bodyPr/>
          <a:lstStyle/>
          <a:p>
            <a:endParaRPr lang="fr-FR"/>
          </a:p>
        </p:txBody>
      </p:sp>
      <p:pic>
        <p:nvPicPr>
          <p:cNvPr id="17" name="icone-probleme-3" descr="preencoded.png"/>
          <p:cNvPicPr>
            <a:picLocks noChangeAspect="1"/>
          </p:cNvPicPr>
          <p:nvPr/>
        </p:nvPicPr>
        <p:blipFill>
          <a:blip r:embed="rId5"/>
          <a:stretch>
            <a:fillRect/>
          </a:stretch>
        </p:blipFill>
        <p:spPr>
          <a:xfrm>
            <a:off x="1005840" y="4983480"/>
            <a:ext cx="365760" cy="365760"/>
          </a:xfrm>
          <a:prstGeom prst="rect">
            <a:avLst/>
          </a:prstGeom>
        </p:spPr>
      </p:pic>
      <p:sp>
        <p:nvSpPr>
          <p:cNvPr id="18" name="titre-probleme-3"/>
          <p:cNvSpPr txBox="1"/>
          <p:nvPr/>
        </p:nvSpPr>
        <p:spPr>
          <a:xfrm>
            <a:off x="1828800" y="4727448"/>
            <a:ext cx="9509760" cy="411480"/>
          </a:xfrm>
          <a:prstGeom prst="rect">
            <a:avLst/>
          </a:prstGeom>
          <a:noFill/>
          <a:ln/>
        </p:spPr>
        <p:txBody>
          <a:bodyPr wrap="square" lIns="0" tIns="0" rIns="0" bIns="0" rtlCol="0" anchor="ctr"/>
          <a:lstStyle/>
          <a:p>
            <a:pPr marL="0" indent="0">
              <a:buNone/>
            </a:pPr>
            <a:r>
              <a:rPr lang="en-US" sz="2100" b="1" dirty="0">
                <a:solidFill>
                  <a:schemeClr val="tx1"/>
                </a:solidFill>
                <a:latin typeface="Lucida Sans" panose="020B0602030504020204" pitchFamily="34" charset="0"/>
              </a:rPr>
              <a:t>Pas toujours de connexion</a:t>
            </a:r>
            <a:endParaRPr lang="en-US" sz="2100" dirty="0">
              <a:latin typeface="Lucida Sans" panose="020B0602030504020204" pitchFamily="34" charset="0"/>
            </a:endParaRPr>
          </a:p>
        </p:txBody>
      </p:sp>
      <p:sp>
        <p:nvSpPr>
          <p:cNvPr id="19" name="texte-probleme-3"/>
          <p:cNvSpPr txBox="1"/>
          <p:nvPr/>
        </p:nvSpPr>
        <p:spPr>
          <a:xfrm>
            <a:off x="1828800" y="5166360"/>
            <a:ext cx="9509760" cy="457200"/>
          </a:xfrm>
          <a:prstGeom prst="rect">
            <a:avLst/>
          </a:prstGeom>
          <a:noFill/>
          <a:ln/>
        </p:spPr>
        <p:txBody>
          <a:bodyPr wrap="square" lIns="0" tIns="0" rIns="0" bIns="0" rtlCol="0" anchor="ctr"/>
          <a:lstStyle/>
          <a:p>
            <a:pPr marL="0" indent="0">
              <a:buNone/>
            </a:pPr>
            <a:r>
              <a:rPr lang="en-US" sz="1600" dirty="0">
                <a:solidFill>
                  <a:srgbClr val="5F6B7A"/>
                </a:solidFill>
                <a:latin typeface="Lucida Sans" panose="020B0602030504020204" pitchFamily="34" charset="0"/>
              </a:rPr>
              <a:t>Une carte en ligne ne marche pas sans Internet, qui n'est pas garanti partout.</a:t>
            </a:r>
            <a:endParaRPr lang="en-US" sz="1600" dirty="0">
              <a:latin typeface="Lucida Sans" panose="020B0602030504020204" pitchFamily="34" charset="0"/>
            </a:endParaRPr>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F6B7A"/>
                </a:solidFill>
              </a:defRPr>
            </a:lvl1pPr>
          </a:lstStyle>
          <a:p>
            <a:pPr algn="r"/>
            <a:fld id="{F7021451-1387-4CA6-816F-3879F97B5CBC}" type="slidenum">
              <a:rPr lang="en-US" b="0"/>
              <a:t>3</a:t>
            </a:fld>
            <a:endParaRPr lang="en-US"/>
          </a:p>
        </p:txBody>
      </p:sp>
      <p:sp>
        <p:nvSpPr>
          <p:cNvPr id="20" name="ZoneTexte 19">
            <a:extLst>
              <a:ext uri="{FF2B5EF4-FFF2-40B4-BE49-F238E27FC236}">
                <a16:creationId xmlns:a16="http://schemas.microsoft.com/office/drawing/2014/main" id="{18F4A361-C1CF-9D40-5D89-9D432F796230}"/>
              </a:ext>
            </a:extLst>
          </p:cNvPr>
          <p:cNvSpPr txBox="1"/>
          <p:nvPr/>
        </p:nvSpPr>
        <p:spPr>
          <a:xfrm>
            <a:off x="537882" y="6400800"/>
            <a:ext cx="3485478" cy="276999"/>
          </a:xfrm>
          <a:prstGeom prst="rect">
            <a:avLst/>
          </a:prstGeom>
          <a:solidFill>
            <a:schemeClr val="bg1"/>
          </a:solidFill>
        </p:spPr>
        <p:txBody>
          <a:bodyPr wrap="square" rtlCol="0">
            <a:spAutoFit/>
          </a:bodyPr>
          <a:lstStyle/>
          <a:p>
            <a:r>
              <a:rPr lang="fr-FR" sz="1200" dirty="0" err="1">
                <a:latin typeface="Lucida Sans" panose="020B0602030504020204" pitchFamily="34" charset="0"/>
              </a:rPr>
              <a:t>MyWay</a:t>
            </a:r>
            <a:r>
              <a:rPr lang="fr-FR" sz="1200" dirty="0">
                <a:latin typeface="Lucida Sans" panose="020B0602030504020204" pitchFamily="34" charset="0"/>
              </a:rPr>
              <a:t> – DiGITAfrikca2026</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11480"/>
            <a:ext cx="8778240" cy="822960"/>
          </a:xfrm>
          <a:prstGeom prst="rect">
            <a:avLst/>
          </a:prstGeom>
          <a:noFill/>
          <a:ln/>
        </p:spPr>
        <p:txBody>
          <a:bodyPr wrap="square" rtlCol="0" anchor="ctr"/>
          <a:lstStyle/>
          <a:p>
            <a:pPr marL="0" indent="0" algn="l">
              <a:buNone/>
            </a:pPr>
            <a:r>
              <a:rPr lang="en-US" sz="3400" b="1" dirty="0">
                <a:solidFill>
                  <a:schemeClr val="tx1"/>
                </a:solidFill>
                <a:latin typeface="Lucida Sans" panose="020B0602030504020204" pitchFamily="34" charset="0"/>
              </a:rPr>
              <a:t>Un scan, un choix, un chemin</a:t>
            </a:r>
            <a:endParaRPr lang="en-US" sz="3400" dirty="0">
              <a:latin typeface="Lucida Sans" panose="020B0602030504020204" pitchFamily="34" charset="0"/>
            </a:endParaRPr>
          </a:p>
        </p:txBody>
      </p:sp>
      <p:sp>
        <p:nvSpPr>
          <p:cNvPr id="3" name="pastille-partie"/>
          <p:cNvSpPr/>
          <p:nvPr/>
        </p:nvSpPr>
        <p:spPr>
          <a:xfrm>
            <a:off x="9555480" y="566928"/>
            <a:ext cx="2103120" cy="457200"/>
          </a:xfrm>
          <a:prstGeom prst="roundRect">
            <a:avLst>
              <a:gd name="adj" fmla="val 50000"/>
            </a:avLst>
          </a:prstGeom>
          <a:solidFill>
            <a:schemeClr val="tx2"/>
          </a:solidFill>
          <a:ln w="12700">
            <a:noFill/>
            <a:prstDash val="solid"/>
          </a:ln>
        </p:spPr>
        <p:txBody>
          <a:bodyPr/>
          <a:lstStyle/>
          <a:p>
            <a:endParaRPr lang="fr-FR"/>
          </a:p>
        </p:txBody>
      </p:sp>
      <p:sp>
        <p:nvSpPr>
          <p:cNvPr id="4" name="texte-pastille-partie"/>
          <p:cNvSpPr txBox="1"/>
          <p:nvPr/>
        </p:nvSpPr>
        <p:spPr>
          <a:xfrm>
            <a:off x="9509760" y="549178"/>
            <a:ext cx="2103120" cy="457200"/>
          </a:xfrm>
          <a:prstGeom prst="rect">
            <a:avLst/>
          </a:prstGeom>
          <a:noFill/>
          <a:ln/>
        </p:spPr>
        <p:txBody>
          <a:bodyPr wrap="square" lIns="0" tIns="0" rIns="0" bIns="0" rtlCol="0" anchor="ctr"/>
          <a:lstStyle/>
          <a:p>
            <a:pPr marL="0" indent="0" algn="ctr">
              <a:buNone/>
            </a:pPr>
            <a:r>
              <a:rPr lang="en-US" sz="1300" b="1" dirty="0">
                <a:solidFill>
                  <a:schemeClr val="bg1"/>
                </a:solidFill>
                <a:latin typeface="Lucida Sans" panose="020B0602030504020204" pitchFamily="34" charset="0"/>
              </a:rPr>
              <a:t>Partie 1 · L'idée</a:t>
            </a:r>
            <a:endParaRPr lang="en-US" sz="1300" dirty="0">
              <a:solidFill>
                <a:schemeClr val="bg1"/>
              </a:solidFill>
              <a:latin typeface="Lucida Sans" panose="020B0602030504020204" pitchFamily="34" charset="0"/>
            </a:endParaRPr>
          </a:p>
        </p:txBody>
      </p:sp>
      <p:sp>
        <p:nvSpPr>
          <p:cNvPr id="5" name="icone-etape-1-cercle"/>
          <p:cNvSpPr/>
          <p:nvPr/>
        </p:nvSpPr>
        <p:spPr>
          <a:xfrm>
            <a:off x="640080" y="1554480"/>
            <a:ext cx="731520" cy="731520"/>
          </a:xfrm>
          <a:prstGeom prst="ellipse">
            <a:avLst/>
          </a:prstGeom>
          <a:solidFill>
            <a:srgbClr val="1B6E53"/>
          </a:solidFill>
          <a:ln w="12700">
            <a:solidFill>
              <a:srgbClr val="1B6E53"/>
            </a:solidFill>
            <a:prstDash val="solid"/>
          </a:ln>
        </p:spPr>
        <p:txBody>
          <a:bodyPr/>
          <a:lstStyle/>
          <a:p>
            <a:endParaRPr lang="fr-FR"/>
          </a:p>
        </p:txBody>
      </p:sp>
      <p:pic>
        <p:nvPicPr>
          <p:cNvPr id="6" name="icone-etape-1" descr="preencoded.png"/>
          <p:cNvPicPr>
            <a:picLocks noChangeAspect="1"/>
          </p:cNvPicPr>
          <p:nvPr/>
        </p:nvPicPr>
        <p:blipFill>
          <a:blip r:embed="rId3"/>
          <a:stretch>
            <a:fillRect/>
          </a:stretch>
        </p:blipFill>
        <p:spPr>
          <a:xfrm>
            <a:off x="822960" y="1737360"/>
            <a:ext cx="365760" cy="365760"/>
          </a:xfrm>
          <a:prstGeom prst="rect">
            <a:avLst/>
          </a:prstGeom>
        </p:spPr>
      </p:pic>
      <p:sp>
        <p:nvSpPr>
          <p:cNvPr id="7" name="titre-etape-1"/>
          <p:cNvSpPr txBox="1"/>
          <p:nvPr/>
        </p:nvSpPr>
        <p:spPr>
          <a:xfrm>
            <a:off x="1600200" y="1508760"/>
            <a:ext cx="6309360" cy="411480"/>
          </a:xfrm>
          <a:prstGeom prst="rect">
            <a:avLst/>
          </a:prstGeom>
          <a:noFill/>
          <a:ln/>
        </p:spPr>
        <p:txBody>
          <a:bodyPr wrap="square" lIns="0" tIns="0" rIns="0" bIns="0" rtlCol="0" anchor="ctr"/>
          <a:lstStyle/>
          <a:p>
            <a:pPr marL="0" indent="0">
              <a:buNone/>
            </a:pPr>
            <a:r>
              <a:rPr lang="en-US" sz="2100" b="1" dirty="0">
                <a:solidFill>
                  <a:schemeClr val="tx1"/>
                </a:solidFill>
                <a:latin typeface="Lucida Sans" panose="020B0602030504020204" pitchFamily="34" charset="0"/>
              </a:rPr>
              <a:t>1. Scanner</a:t>
            </a:r>
            <a:endParaRPr lang="en-US" sz="2100" dirty="0">
              <a:latin typeface="Lucida Sans" panose="020B0602030504020204" pitchFamily="34" charset="0"/>
            </a:endParaRPr>
          </a:p>
        </p:txBody>
      </p:sp>
      <p:sp>
        <p:nvSpPr>
          <p:cNvPr id="8" name="texte-etape-1"/>
          <p:cNvSpPr txBox="1"/>
          <p:nvPr/>
        </p:nvSpPr>
        <p:spPr>
          <a:xfrm>
            <a:off x="1600200" y="1938528"/>
            <a:ext cx="6309360" cy="594360"/>
          </a:xfrm>
          <a:prstGeom prst="rect">
            <a:avLst/>
          </a:prstGeom>
          <a:noFill/>
          <a:ln/>
        </p:spPr>
        <p:txBody>
          <a:bodyPr wrap="square" lIns="0" tIns="0" rIns="0" bIns="0" rtlCol="0" anchor="t"/>
          <a:lstStyle/>
          <a:p>
            <a:pPr marL="0" indent="0">
              <a:buNone/>
            </a:pPr>
            <a:r>
              <a:rPr lang="en-US" sz="1600" dirty="0">
                <a:solidFill>
                  <a:srgbClr val="5F6B7A"/>
                </a:solidFill>
                <a:latin typeface="Lucida Sans" panose="020B0602030504020204" pitchFamily="34" charset="0"/>
              </a:rPr>
              <a:t>Un QR code affiché à l'entrée, au restaurant ou au parking indique où l'on se trouve.</a:t>
            </a:r>
            <a:endParaRPr lang="en-US" sz="1600" dirty="0">
              <a:latin typeface="Lucida Sans" panose="020B0602030504020204" pitchFamily="34" charset="0"/>
            </a:endParaRPr>
          </a:p>
        </p:txBody>
      </p:sp>
      <p:sp>
        <p:nvSpPr>
          <p:cNvPr id="9" name="icone-etape-2-cercle"/>
          <p:cNvSpPr/>
          <p:nvPr/>
        </p:nvSpPr>
        <p:spPr>
          <a:xfrm>
            <a:off x="640080" y="2743200"/>
            <a:ext cx="731520" cy="731520"/>
          </a:xfrm>
          <a:prstGeom prst="ellipse">
            <a:avLst/>
          </a:prstGeom>
          <a:solidFill>
            <a:srgbClr val="1B6E53"/>
          </a:solidFill>
          <a:ln w="12700">
            <a:solidFill>
              <a:srgbClr val="1B6E53"/>
            </a:solidFill>
            <a:prstDash val="solid"/>
          </a:ln>
        </p:spPr>
        <p:txBody>
          <a:bodyPr/>
          <a:lstStyle/>
          <a:p>
            <a:endParaRPr lang="fr-FR"/>
          </a:p>
        </p:txBody>
      </p:sp>
      <p:pic>
        <p:nvPicPr>
          <p:cNvPr id="10" name="icone-etape-2" descr="preencoded.png"/>
          <p:cNvPicPr>
            <a:picLocks noChangeAspect="1"/>
          </p:cNvPicPr>
          <p:nvPr/>
        </p:nvPicPr>
        <p:blipFill>
          <a:blip r:embed="rId4"/>
          <a:stretch>
            <a:fillRect/>
          </a:stretch>
        </p:blipFill>
        <p:spPr>
          <a:xfrm>
            <a:off x="822960" y="2926080"/>
            <a:ext cx="365760" cy="365760"/>
          </a:xfrm>
          <a:prstGeom prst="rect">
            <a:avLst/>
          </a:prstGeom>
        </p:spPr>
      </p:pic>
      <p:sp>
        <p:nvSpPr>
          <p:cNvPr id="11" name="titre-etape-2"/>
          <p:cNvSpPr txBox="1"/>
          <p:nvPr/>
        </p:nvSpPr>
        <p:spPr>
          <a:xfrm>
            <a:off x="1600200" y="2697480"/>
            <a:ext cx="6309360" cy="411480"/>
          </a:xfrm>
          <a:prstGeom prst="rect">
            <a:avLst/>
          </a:prstGeom>
          <a:noFill/>
          <a:ln/>
        </p:spPr>
        <p:txBody>
          <a:bodyPr wrap="square" lIns="0" tIns="0" rIns="0" bIns="0" rtlCol="0" anchor="ctr"/>
          <a:lstStyle/>
          <a:p>
            <a:pPr marL="0" indent="0">
              <a:buNone/>
            </a:pPr>
            <a:r>
              <a:rPr lang="en-US" sz="2100" b="1" dirty="0">
                <a:solidFill>
                  <a:schemeClr val="tx1"/>
                </a:solidFill>
                <a:latin typeface="Lucida Sans" panose="020B0602030504020204" pitchFamily="34" charset="0"/>
              </a:rPr>
              <a:t>2. Choisir</a:t>
            </a:r>
            <a:endParaRPr lang="en-US" sz="2100" dirty="0">
              <a:latin typeface="Lucida Sans" panose="020B0602030504020204" pitchFamily="34" charset="0"/>
            </a:endParaRPr>
          </a:p>
        </p:txBody>
      </p:sp>
      <p:sp>
        <p:nvSpPr>
          <p:cNvPr id="12" name="texte-etape-2"/>
          <p:cNvSpPr txBox="1"/>
          <p:nvPr/>
        </p:nvSpPr>
        <p:spPr>
          <a:xfrm>
            <a:off x="1600200" y="3127248"/>
            <a:ext cx="6309360" cy="594360"/>
          </a:xfrm>
          <a:prstGeom prst="rect">
            <a:avLst/>
          </a:prstGeom>
          <a:noFill/>
          <a:ln/>
        </p:spPr>
        <p:txBody>
          <a:bodyPr wrap="square" lIns="0" tIns="0" rIns="0" bIns="0" rtlCol="0" anchor="t"/>
          <a:lstStyle/>
          <a:p>
            <a:pPr marL="0" indent="0">
              <a:buNone/>
            </a:pPr>
            <a:r>
              <a:rPr lang="en-US" sz="1600" dirty="0">
                <a:solidFill>
                  <a:srgbClr val="5F6B7A"/>
                </a:solidFill>
                <a:latin typeface="Lucida Sans" panose="020B0602030504020204" pitchFamily="34" charset="0"/>
              </a:rPr>
              <a:t>On touche le lieu recherché dans une liste. Rien à taper.</a:t>
            </a:r>
            <a:endParaRPr lang="en-US" sz="1600" dirty="0">
              <a:latin typeface="Lucida Sans" panose="020B0602030504020204" pitchFamily="34" charset="0"/>
            </a:endParaRPr>
          </a:p>
        </p:txBody>
      </p:sp>
      <p:sp>
        <p:nvSpPr>
          <p:cNvPr id="13" name="icone-etape-3-cercle"/>
          <p:cNvSpPr/>
          <p:nvPr/>
        </p:nvSpPr>
        <p:spPr>
          <a:xfrm>
            <a:off x="640080" y="3931920"/>
            <a:ext cx="731520" cy="731520"/>
          </a:xfrm>
          <a:prstGeom prst="ellipse">
            <a:avLst/>
          </a:prstGeom>
          <a:solidFill>
            <a:srgbClr val="1B6E53"/>
          </a:solidFill>
          <a:ln w="12700">
            <a:solidFill>
              <a:srgbClr val="1B6E53"/>
            </a:solidFill>
            <a:prstDash val="solid"/>
          </a:ln>
        </p:spPr>
        <p:txBody>
          <a:bodyPr/>
          <a:lstStyle/>
          <a:p>
            <a:endParaRPr lang="fr-FR"/>
          </a:p>
        </p:txBody>
      </p:sp>
      <p:pic>
        <p:nvPicPr>
          <p:cNvPr id="14" name="icone-etape-3" descr="preencoded.png"/>
          <p:cNvPicPr>
            <a:picLocks noChangeAspect="1"/>
          </p:cNvPicPr>
          <p:nvPr/>
        </p:nvPicPr>
        <p:blipFill>
          <a:blip r:embed="rId5"/>
          <a:stretch>
            <a:fillRect/>
          </a:stretch>
        </p:blipFill>
        <p:spPr>
          <a:xfrm>
            <a:off x="822960" y="4114800"/>
            <a:ext cx="365760" cy="365760"/>
          </a:xfrm>
          <a:prstGeom prst="rect">
            <a:avLst/>
          </a:prstGeom>
        </p:spPr>
      </p:pic>
      <p:sp>
        <p:nvSpPr>
          <p:cNvPr id="15" name="titre-etape-3"/>
          <p:cNvSpPr txBox="1"/>
          <p:nvPr/>
        </p:nvSpPr>
        <p:spPr>
          <a:xfrm>
            <a:off x="1600200" y="3886200"/>
            <a:ext cx="6309360" cy="411480"/>
          </a:xfrm>
          <a:prstGeom prst="rect">
            <a:avLst/>
          </a:prstGeom>
          <a:noFill/>
          <a:ln/>
        </p:spPr>
        <p:txBody>
          <a:bodyPr wrap="square" lIns="0" tIns="0" rIns="0" bIns="0" rtlCol="0" anchor="ctr"/>
          <a:lstStyle/>
          <a:p>
            <a:pPr marL="0" indent="0">
              <a:buNone/>
            </a:pPr>
            <a:r>
              <a:rPr lang="en-US" sz="2100" b="1" dirty="0">
                <a:solidFill>
                  <a:schemeClr val="tx1"/>
                </a:solidFill>
                <a:latin typeface="Lucida Sans" panose="020B0602030504020204" pitchFamily="34" charset="0"/>
              </a:rPr>
              <a:t>3. Suivre</a:t>
            </a:r>
            <a:endParaRPr lang="en-US" sz="2100" dirty="0">
              <a:latin typeface="Lucida Sans" panose="020B0602030504020204" pitchFamily="34" charset="0"/>
            </a:endParaRPr>
          </a:p>
        </p:txBody>
      </p:sp>
      <p:sp>
        <p:nvSpPr>
          <p:cNvPr id="16" name="texte-etape-3"/>
          <p:cNvSpPr txBox="1"/>
          <p:nvPr/>
        </p:nvSpPr>
        <p:spPr>
          <a:xfrm>
            <a:off x="1600200" y="4315968"/>
            <a:ext cx="6309360" cy="594360"/>
          </a:xfrm>
          <a:prstGeom prst="rect">
            <a:avLst/>
          </a:prstGeom>
          <a:noFill/>
          <a:ln/>
        </p:spPr>
        <p:txBody>
          <a:bodyPr wrap="square" lIns="0" tIns="0" rIns="0" bIns="0" rtlCol="0" anchor="t"/>
          <a:lstStyle/>
          <a:p>
            <a:pPr marL="0" indent="0">
              <a:buNone/>
            </a:pPr>
            <a:r>
              <a:rPr lang="en-US" sz="1600" dirty="0">
                <a:solidFill>
                  <a:srgbClr val="5F6B7A"/>
                </a:solidFill>
                <a:latin typeface="Lucida Sans" panose="020B0602030504020204" pitchFamily="34" charset="0"/>
              </a:rPr>
              <a:t>Le chemin s'affiche sur le plan du campus, avec la distance et le temps de marche.</a:t>
            </a:r>
            <a:endParaRPr lang="en-US" sz="1600" dirty="0">
              <a:latin typeface="Lucida Sans" panose="020B0602030504020204" pitchFamily="34" charset="0"/>
            </a:endParaRPr>
          </a:p>
        </p:txBody>
      </p:sp>
      <p:sp>
        <p:nvSpPr>
          <p:cNvPr id="17" name="icone-etape-4-cercle"/>
          <p:cNvSpPr/>
          <p:nvPr/>
        </p:nvSpPr>
        <p:spPr>
          <a:xfrm>
            <a:off x="640080" y="5120640"/>
            <a:ext cx="731520" cy="731520"/>
          </a:xfrm>
          <a:prstGeom prst="ellipse">
            <a:avLst/>
          </a:prstGeom>
          <a:solidFill>
            <a:srgbClr val="1B6E53"/>
          </a:solidFill>
          <a:ln w="12700">
            <a:solidFill>
              <a:srgbClr val="1B6E53"/>
            </a:solidFill>
            <a:prstDash val="solid"/>
          </a:ln>
        </p:spPr>
        <p:txBody>
          <a:bodyPr/>
          <a:lstStyle/>
          <a:p>
            <a:endParaRPr lang="fr-FR"/>
          </a:p>
        </p:txBody>
      </p:sp>
      <p:pic>
        <p:nvPicPr>
          <p:cNvPr id="18" name="icone-etape-4" descr="preencoded.png"/>
          <p:cNvPicPr>
            <a:picLocks noChangeAspect="1"/>
          </p:cNvPicPr>
          <p:nvPr/>
        </p:nvPicPr>
        <p:blipFill>
          <a:blip r:embed="rId6"/>
          <a:stretch>
            <a:fillRect/>
          </a:stretch>
        </p:blipFill>
        <p:spPr>
          <a:xfrm>
            <a:off x="822960" y="5303520"/>
            <a:ext cx="365760" cy="365760"/>
          </a:xfrm>
          <a:prstGeom prst="rect">
            <a:avLst/>
          </a:prstGeom>
        </p:spPr>
      </p:pic>
      <p:sp>
        <p:nvSpPr>
          <p:cNvPr id="19" name="titre-etape-4"/>
          <p:cNvSpPr txBox="1"/>
          <p:nvPr/>
        </p:nvSpPr>
        <p:spPr>
          <a:xfrm>
            <a:off x="1600200" y="5074920"/>
            <a:ext cx="6309360" cy="411480"/>
          </a:xfrm>
          <a:prstGeom prst="rect">
            <a:avLst/>
          </a:prstGeom>
          <a:noFill/>
          <a:ln/>
        </p:spPr>
        <p:txBody>
          <a:bodyPr wrap="square" lIns="0" tIns="0" rIns="0" bIns="0" rtlCol="0" anchor="ctr"/>
          <a:lstStyle/>
          <a:p>
            <a:pPr marL="0" indent="0">
              <a:buNone/>
            </a:pPr>
            <a:r>
              <a:rPr lang="en-US" sz="2100" b="1" dirty="0">
                <a:solidFill>
                  <a:schemeClr val="tx1"/>
                </a:solidFill>
                <a:latin typeface="Lucida Sans" panose="020B0602030504020204" pitchFamily="34" charset="0"/>
              </a:rPr>
              <a:t>4. Reconnaître</a:t>
            </a:r>
            <a:endParaRPr lang="en-US" sz="2100" dirty="0">
              <a:latin typeface="Lucida Sans" panose="020B0602030504020204" pitchFamily="34" charset="0"/>
            </a:endParaRPr>
          </a:p>
        </p:txBody>
      </p:sp>
      <p:sp>
        <p:nvSpPr>
          <p:cNvPr id="20" name="texte-etape-4"/>
          <p:cNvSpPr txBox="1"/>
          <p:nvPr/>
        </p:nvSpPr>
        <p:spPr>
          <a:xfrm>
            <a:off x="1600200" y="5504688"/>
            <a:ext cx="6309360" cy="594360"/>
          </a:xfrm>
          <a:prstGeom prst="rect">
            <a:avLst/>
          </a:prstGeom>
          <a:noFill/>
          <a:ln/>
        </p:spPr>
        <p:txBody>
          <a:bodyPr wrap="square" lIns="0" tIns="0" rIns="0" bIns="0" rtlCol="0" anchor="t"/>
          <a:lstStyle/>
          <a:p>
            <a:pPr marL="0" indent="0">
              <a:buNone/>
            </a:pPr>
            <a:r>
              <a:rPr lang="en-US" sz="1600" dirty="0">
                <a:solidFill>
                  <a:srgbClr val="5F6B7A"/>
                </a:solidFill>
                <a:latin typeface="Lucida Sans" panose="020B0602030504020204" pitchFamily="34" charset="0"/>
              </a:rPr>
              <a:t>La photo du bâtiment confirme qu'on est arrivé au bon endroit.</a:t>
            </a:r>
            <a:endParaRPr lang="en-US" sz="1600" dirty="0">
              <a:latin typeface="Lucida Sans" panose="020B0602030504020204" pitchFamily="34" charset="0"/>
            </a:endParaRPr>
          </a:p>
        </p:txBody>
      </p:sp>
      <p:sp>
        <p:nvSpPr>
          <p:cNvPr id="21" name="cadre-telephone"/>
          <p:cNvSpPr/>
          <p:nvPr/>
        </p:nvSpPr>
        <p:spPr>
          <a:xfrm>
            <a:off x="8412480" y="1280160"/>
            <a:ext cx="3200400" cy="4983480"/>
          </a:xfrm>
          <a:prstGeom prst="roundRect">
            <a:avLst>
              <a:gd name="adj" fmla="val 3429"/>
            </a:avLst>
          </a:prstGeom>
          <a:solidFill>
            <a:srgbClr val="17312A"/>
          </a:solidFill>
          <a:ln w="12700">
            <a:solidFill>
              <a:srgbClr val="17312A"/>
            </a:solidFill>
            <a:prstDash val="solid"/>
          </a:ln>
        </p:spPr>
        <p:txBody>
          <a:bodyPr/>
          <a:lstStyle/>
          <a:p>
            <a:endParaRPr lang="fr-FR"/>
          </a:p>
        </p:txBody>
      </p:sp>
      <p:pic>
        <p:nvPicPr>
          <p:cNvPr id="22" name="capture-guide-ept" descr="/tmp/claude-0/-home-claude/d2fbe8f7-848a-58e8-bc46-5714b3a123ea/scratchpad/app_ept.png"/>
          <p:cNvPicPr>
            <a:picLocks noChangeAspect="1"/>
          </p:cNvPicPr>
          <p:nvPr/>
        </p:nvPicPr>
        <p:blipFill>
          <a:blip r:embed="rId7"/>
          <a:stretch>
            <a:fillRect/>
          </a:stretch>
        </p:blipFill>
        <p:spPr>
          <a:xfrm>
            <a:off x="8641080" y="1463040"/>
            <a:ext cx="2743200" cy="4471416"/>
          </a:xfrm>
          <a:prstGeom prst="rect">
            <a:avLst/>
          </a:prstGeom>
        </p:spPr>
      </p:pic>
      <p:sp>
        <p:nvSpPr>
          <p:cNvPr id="23" name="legende-capture"/>
          <p:cNvSpPr txBox="1"/>
          <p:nvPr/>
        </p:nvSpPr>
        <p:spPr>
          <a:xfrm>
            <a:off x="8412480" y="5943600"/>
            <a:ext cx="3200400" cy="274320"/>
          </a:xfrm>
          <a:prstGeom prst="rect">
            <a:avLst/>
          </a:prstGeom>
          <a:noFill/>
          <a:ln/>
        </p:spPr>
        <p:txBody>
          <a:bodyPr wrap="square" lIns="0" tIns="0" rIns="0" bIns="0" rtlCol="0" anchor="ctr"/>
          <a:lstStyle/>
          <a:p>
            <a:pPr marL="0" indent="0" algn="ctr">
              <a:buNone/>
            </a:pPr>
            <a:r>
              <a:rPr lang="en-US" sz="1100" dirty="0">
                <a:solidFill>
                  <a:srgbClr val="C9E4D8"/>
                </a:solidFill>
              </a:rPr>
              <a:t>Restaurant → Auditorium : 425 m, 6 min</a:t>
            </a:r>
            <a:endParaRPr lang="en-US" sz="11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F6B7A"/>
                </a:solidFill>
              </a:defRPr>
            </a:lvl1pPr>
          </a:lstStyle>
          <a:p>
            <a:pPr algn="r"/>
            <a:fld id="{F7021451-1387-4CA6-816F-3879F97B5CBC}" type="slidenum">
              <a:rPr lang="en-US" b="0"/>
              <a:t>4</a:t>
            </a:fld>
            <a:endParaRPr lang="en-US"/>
          </a:p>
        </p:txBody>
      </p:sp>
      <p:sp>
        <p:nvSpPr>
          <p:cNvPr id="24" name="ZoneTexte 23">
            <a:extLst>
              <a:ext uri="{FF2B5EF4-FFF2-40B4-BE49-F238E27FC236}">
                <a16:creationId xmlns:a16="http://schemas.microsoft.com/office/drawing/2014/main" id="{130A418B-4713-CB8E-0DA7-BD6A033D268C}"/>
              </a:ext>
            </a:extLst>
          </p:cNvPr>
          <p:cNvSpPr txBox="1"/>
          <p:nvPr/>
        </p:nvSpPr>
        <p:spPr>
          <a:xfrm>
            <a:off x="537882" y="6400800"/>
            <a:ext cx="3485478" cy="276999"/>
          </a:xfrm>
          <a:prstGeom prst="rect">
            <a:avLst/>
          </a:prstGeom>
          <a:solidFill>
            <a:schemeClr val="bg1"/>
          </a:solidFill>
        </p:spPr>
        <p:txBody>
          <a:bodyPr wrap="square" rtlCol="0">
            <a:spAutoFit/>
          </a:bodyPr>
          <a:lstStyle/>
          <a:p>
            <a:r>
              <a:rPr lang="fr-FR" sz="1200" dirty="0" err="1">
                <a:latin typeface="Lucida Sans" panose="020B0602030504020204" pitchFamily="34" charset="0"/>
              </a:rPr>
              <a:t>MyWay</a:t>
            </a:r>
            <a:r>
              <a:rPr lang="fr-FR" sz="1200" dirty="0">
                <a:latin typeface="Lucida Sans" panose="020B0602030504020204" pitchFamily="34" charset="0"/>
              </a:rPr>
              <a:t> – DiGITAfrikca2026</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11480"/>
            <a:ext cx="8778240" cy="822960"/>
          </a:xfrm>
          <a:prstGeom prst="rect">
            <a:avLst/>
          </a:prstGeom>
          <a:noFill/>
          <a:ln/>
        </p:spPr>
        <p:txBody>
          <a:bodyPr wrap="square" rtlCol="0" anchor="ctr"/>
          <a:lstStyle/>
          <a:p>
            <a:pPr marL="0" indent="0" algn="l">
              <a:buNone/>
            </a:pPr>
            <a:r>
              <a:rPr lang="en-US" dirty="0">
                <a:latin typeface="Lucida Sans" panose="020B0602030504020204" pitchFamily="34" charset="0"/>
              </a:rPr>
              <a:t>Solution pratique</a:t>
            </a:r>
            <a:endParaRPr lang="en-US" sz="3400" dirty="0">
              <a:latin typeface="Lucida Sans" panose="020B0602030504020204" pitchFamily="34" charset="0"/>
            </a:endParaRPr>
          </a:p>
        </p:txBody>
      </p:sp>
      <p:sp>
        <p:nvSpPr>
          <p:cNvPr id="3" name="pastille-partie"/>
          <p:cNvSpPr/>
          <p:nvPr/>
        </p:nvSpPr>
        <p:spPr>
          <a:xfrm>
            <a:off x="9555480" y="566928"/>
            <a:ext cx="2103120" cy="457200"/>
          </a:xfrm>
          <a:prstGeom prst="roundRect">
            <a:avLst>
              <a:gd name="adj" fmla="val 50000"/>
            </a:avLst>
          </a:prstGeom>
          <a:solidFill>
            <a:schemeClr val="tx2"/>
          </a:solidFill>
          <a:ln w="12700">
            <a:noFill/>
            <a:prstDash val="solid"/>
          </a:ln>
        </p:spPr>
        <p:txBody>
          <a:bodyPr/>
          <a:lstStyle/>
          <a:p>
            <a:endParaRPr lang="fr-FR"/>
          </a:p>
        </p:txBody>
      </p:sp>
      <p:sp>
        <p:nvSpPr>
          <p:cNvPr id="4" name="texte-pastille-partie"/>
          <p:cNvSpPr txBox="1"/>
          <p:nvPr/>
        </p:nvSpPr>
        <p:spPr>
          <a:xfrm>
            <a:off x="9540240" y="548640"/>
            <a:ext cx="2103120" cy="457200"/>
          </a:xfrm>
          <a:prstGeom prst="rect">
            <a:avLst/>
          </a:prstGeom>
          <a:noFill/>
          <a:ln/>
        </p:spPr>
        <p:txBody>
          <a:bodyPr wrap="square" lIns="0" tIns="0" rIns="0" bIns="0" rtlCol="0" anchor="ctr"/>
          <a:lstStyle/>
          <a:p>
            <a:pPr marL="0" indent="0" algn="ctr">
              <a:buNone/>
            </a:pPr>
            <a:r>
              <a:rPr lang="en-US" sz="1300" b="1" dirty="0">
                <a:solidFill>
                  <a:schemeClr val="bg1"/>
                </a:solidFill>
                <a:latin typeface="Lucida Sans" panose="020B0602030504020204" pitchFamily="34" charset="0"/>
              </a:rPr>
              <a:t>Partie 1 · L'idée</a:t>
            </a:r>
            <a:endParaRPr lang="en-US" sz="1300" dirty="0">
              <a:solidFill>
                <a:schemeClr val="bg1"/>
              </a:solidFill>
              <a:latin typeface="Lucida Sans" panose="020B0602030504020204" pitchFamily="34" charset="0"/>
            </a:endParaRPr>
          </a:p>
        </p:txBody>
      </p:sp>
      <p:sp>
        <p:nvSpPr>
          <p:cNvPr id="5" name="public-1"/>
          <p:cNvSpPr/>
          <p:nvPr/>
        </p:nvSpPr>
        <p:spPr>
          <a:xfrm>
            <a:off x="548640" y="1463040"/>
            <a:ext cx="5440680" cy="2103120"/>
          </a:xfrm>
          <a:prstGeom prst="roundRect">
            <a:avLst>
              <a:gd name="adj" fmla="val 5217"/>
            </a:avLst>
          </a:prstGeom>
          <a:solidFill>
            <a:srgbClr val="EEF5F1"/>
          </a:solidFill>
          <a:ln w="12700">
            <a:solidFill>
              <a:srgbClr val="EEF5F1"/>
            </a:solidFill>
            <a:prstDash val="solid"/>
          </a:ln>
        </p:spPr>
        <p:txBody>
          <a:bodyPr/>
          <a:lstStyle/>
          <a:p>
            <a:endParaRPr lang="fr-FR"/>
          </a:p>
        </p:txBody>
      </p:sp>
      <p:sp>
        <p:nvSpPr>
          <p:cNvPr id="6" name="icone-public-1-cercle"/>
          <p:cNvSpPr/>
          <p:nvPr/>
        </p:nvSpPr>
        <p:spPr>
          <a:xfrm>
            <a:off x="868680" y="1828800"/>
            <a:ext cx="822960" cy="822960"/>
          </a:xfrm>
          <a:prstGeom prst="ellipse">
            <a:avLst/>
          </a:prstGeom>
          <a:solidFill>
            <a:srgbClr val="1B6E53"/>
          </a:solidFill>
          <a:ln w="12700">
            <a:solidFill>
              <a:srgbClr val="1B6E53"/>
            </a:solidFill>
            <a:prstDash val="solid"/>
          </a:ln>
        </p:spPr>
        <p:txBody>
          <a:bodyPr/>
          <a:lstStyle/>
          <a:p>
            <a:endParaRPr lang="fr-FR"/>
          </a:p>
        </p:txBody>
      </p:sp>
      <p:pic>
        <p:nvPicPr>
          <p:cNvPr id="7" name="icone-public-1" descr="preencoded.png"/>
          <p:cNvPicPr>
            <a:picLocks noChangeAspect="1"/>
          </p:cNvPicPr>
          <p:nvPr/>
        </p:nvPicPr>
        <p:blipFill>
          <a:blip r:embed="rId3"/>
          <a:stretch>
            <a:fillRect/>
          </a:stretch>
        </p:blipFill>
        <p:spPr>
          <a:xfrm>
            <a:off x="1074420" y="2034540"/>
            <a:ext cx="411480" cy="411480"/>
          </a:xfrm>
          <a:prstGeom prst="rect">
            <a:avLst/>
          </a:prstGeom>
        </p:spPr>
      </p:pic>
      <p:sp>
        <p:nvSpPr>
          <p:cNvPr id="8" name="titre-public-1"/>
          <p:cNvSpPr txBox="1"/>
          <p:nvPr/>
        </p:nvSpPr>
        <p:spPr>
          <a:xfrm>
            <a:off x="1920240" y="1828800"/>
            <a:ext cx="3840480" cy="457200"/>
          </a:xfrm>
          <a:prstGeom prst="rect">
            <a:avLst/>
          </a:prstGeom>
          <a:noFill/>
          <a:ln/>
        </p:spPr>
        <p:txBody>
          <a:bodyPr wrap="square" lIns="0" tIns="0" rIns="0" bIns="0" rtlCol="0" anchor="ctr"/>
          <a:lstStyle/>
          <a:p>
            <a:pPr marL="0" indent="0">
              <a:buNone/>
            </a:pPr>
            <a:r>
              <a:rPr lang="en-US" sz="2100" b="1" dirty="0">
                <a:solidFill>
                  <a:schemeClr val="tx1"/>
                </a:solidFill>
                <a:latin typeface="Lucida Sans" panose="020B0602030504020204" pitchFamily="34" charset="0"/>
              </a:rPr>
              <a:t>Nouveaux étudiants</a:t>
            </a:r>
            <a:endParaRPr lang="en-US" sz="2100" dirty="0">
              <a:latin typeface="Lucida Sans" panose="020B0602030504020204" pitchFamily="34" charset="0"/>
            </a:endParaRPr>
          </a:p>
        </p:txBody>
      </p:sp>
      <p:sp>
        <p:nvSpPr>
          <p:cNvPr id="9" name="texte-public-1"/>
          <p:cNvSpPr txBox="1"/>
          <p:nvPr/>
        </p:nvSpPr>
        <p:spPr>
          <a:xfrm>
            <a:off x="1920240" y="2331720"/>
            <a:ext cx="3840480" cy="1005840"/>
          </a:xfrm>
          <a:prstGeom prst="rect">
            <a:avLst/>
          </a:prstGeom>
          <a:noFill/>
          <a:ln/>
        </p:spPr>
        <p:txBody>
          <a:bodyPr wrap="square" lIns="0" tIns="0" rIns="0" bIns="0" rtlCol="0" anchor="t"/>
          <a:lstStyle/>
          <a:p>
            <a:pPr marL="0" indent="0">
              <a:buNone/>
            </a:pPr>
            <a:r>
              <a:rPr lang="en-US" sz="1600" dirty="0">
                <a:solidFill>
                  <a:srgbClr val="5F6B7A"/>
                </a:solidFill>
                <a:latin typeface="Lucida Sans" panose="020B0602030504020204" pitchFamily="34" charset="0"/>
              </a:rPr>
              <a:t>Trouver la scolarité, les amphis et les salles dès la rentrée.</a:t>
            </a:r>
            <a:endParaRPr lang="en-US" sz="1600" dirty="0">
              <a:latin typeface="Lucida Sans" panose="020B0602030504020204" pitchFamily="34" charset="0"/>
            </a:endParaRPr>
          </a:p>
        </p:txBody>
      </p:sp>
      <p:sp>
        <p:nvSpPr>
          <p:cNvPr id="10" name="public-2"/>
          <p:cNvSpPr/>
          <p:nvPr/>
        </p:nvSpPr>
        <p:spPr>
          <a:xfrm>
            <a:off x="6172200" y="1463040"/>
            <a:ext cx="5440680" cy="2103120"/>
          </a:xfrm>
          <a:prstGeom prst="roundRect">
            <a:avLst>
              <a:gd name="adj" fmla="val 5217"/>
            </a:avLst>
          </a:prstGeom>
          <a:solidFill>
            <a:srgbClr val="EEF5F1"/>
          </a:solidFill>
          <a:ln w="12700">
            <a:solidFill>
              <a:srgbClr val="EEF5F1"/>
            </a:solidFill>
            <a:prstDash val="solid"/>
          </a:ln>
        </p:spPr>
        <p:txBody>
          <a:bodyPr/>
          <a:lstStyle/>
          <a:p>
            <a:endParaRPr lang="fr-FR"/>
          </a:p>
        </p:txBody>
      </p:sp>
      <p:sp>
        <p:nvSpPr>
          <p:cNvPr id="11" name="icone-public-2-cercle"/>
          <p:cNvSpPr/>
          <p:nvPr/>
        </p:nvSpPr>
        <p:spPr>
          <a:xfrm>
            <a:off x="6492240" y="1828800"/>
            <a:ext cx="822960" cy="822960"/>
          </a:xfrm>
          <a:prstGeom prst="ellipse">
            <a:avLst/>
          </a:prstGeom>
          <a:solidFill>
            <a:srgbClr val="1B6E53"/>
          </a:solidFill>
          <a:ln w="12700">
            <a:solidFill>
              <a:srgbClr val="1B6E53"/>
            </a:solidFill>
            <a:prstDash val="solid"/>
          </a:ln>
        </p:spPr>
        <p:txBody>
          <a:bodyPr/>
          <a:lstStyle/>
          <a:p>
            <a:endParaRPr lang="fr-FR"/>
          </a:p>
        </p:txBody>
      </p:sp>
      <p:pic>
        <p:nvPicPr>
          <p:cNvPr id="12" name="icone-public-2" descr="preencoded.png"/>
          <p:cNvPicPr>
            <a:picLocks noChangeAspect="1"/>
          </p:cNvPicPr>
          <p:nvPr/>
        </p:nvPicPr>
        <p:blipFill>
          <a:blip r:embed="rId4"/>
          <a:stretch>
            <a:fillRect/>
          </a:stretch>
        </p:blipFill>
        <p:spPr>
          <a:xfrm>
            <a:off x="6697980" y="2034540"/>
            <a:ext cx="411480" cy="411480"/>
          </a:xfrm>
          <a:prstGeom prst="rect">
            <a:avLst/>
          </a:prstGeom>
        </p:spPr>
      </p:pic>
      <p:sp>
        <p:nvSpPr>
          <p:cNvPr id="13" name="titre-public-2"/>
          <p:cNvSpPr txBox="1"/>
          <p:nvPr/>
        </p:nvSpPr>
        <p:spPr>
          <a:xfrm>
            <a:off x="7543800" y="1828800"/>
            <a:ext cx="3840480" cy="457200"/>
          </a:xfrm>
          <a:prstGeom prst="rect">
            <a:avLst/>
          </a:prstGeom>
          <a:noFill/>
          <a:ln/>
        </p:spPr>
        <p:txBody>
          <a:bodyPr wrap="square" lIns="0" tIns="0" rIns="0" bIns="0" rtlCol="0" anchor="ctr"/>
          <a:lstStyle/>
          <a:p>
            <a:pPr marL="0" indent="0">
              <a:buNone/>
            </a:pPr>
            <a:r>
              <a:rPr lang="en-US" sz="2100" b="1" dirty="0">
                <a:solidFill>
                  <a:schemeClr val="tx1"/>
                </a:solidFill>
                <a:latin typeface="Lucida Sans" panose="020B0602030504020204" pitchFamily="34" charset="0"/>
              </a:rPr>
              <a:t>Parents et visiteurs</a:t>
            </a:r>
            <a:endParaRPr lang="en-US" sz="2100" dirty="0">
              <a:latin typeface="Lucida Sans" panose="020B0602030504020204" pitchFamily="34" charset="0"/>
            </a:endParaRPr>
          </a:p>
        </p:txBody>
      </p:sp>
      <p:sp>
        <p:nvSpPr>
          <p:cNvPr id="14" name="texte-public-2"/>
          <p:cNvSpPr txBox="1"/>
          <p:nvPr/>
        </p:nvSpPr>
        <p:spPr>
          <a:xfrm>
            <a:off x="7543800" y="2331720"/>
            <a:ext cx="3840480" cy="1005840"/>
          </a:xfrm>
          <a:prstGeom prst="rect">
            <a:avLst/>
          </a:prstGeom>
          <a:noFill/>
          <a:ln/>
        </p:spPr>
        <p:txBody>
          <a:bodyPr wrap="square" lIns="0" tIns="0" rIns="0" bIns="0" rtlCol="0" anchor="t"/>
          <a:lstStyle/>
          <a:p>
            <a:pPr marL="0" indent="0">
              <a:buNone/>
            </a:pPr>
            <a:r>
              <a:rPr lang="en-US" sz="1600" dirty="0">
                <a:solidFill>
                  <a:srgbClr val="5F6B7A"/>
                </a:solidFill>
                <a:latin typeface="Lucida Sans" panose="020B0602030504020204" pitchFamily="34" charset="0"/>
              </a:rPr>
              <a:t>Se rendre à la direction ou à un événement sans chercher son chemin</a:t>
            </a:r>
            <a:r>
              <a:rPr lang="en-US" sz="1600" dirty="0">
                <a:solidFill>
                  <a:srgbClr val="5F6B7A"/>
                </a:solidFill>
              </a:rPr>
              <a:t>.</a:t>
            </a:r>
            <a:endParaRPr lang="en-US" sz="1600" dirty="0"/>
          </a:p>
        </p:txBody>
      </p:sp>
      <p:sp>
        <p:nvSpPr>
          <p:cNvPr id="15" name="public-3"/>
          <p:cNvSpPr/>
          <p:nvPr/>
        </p:nvSpPr>
        <p:spPr>
          <a:xfrm>
            <a:off x="548640" y="3840480"/>
            <a:ext cx="5440680" cy="2103120"/>
          </a:xfrm>
          <a:prstGeom prst="roundRect">
            <a:avLst>
              <a:gd name="adj" fmla="val 5217"/>
            </a:avLst>
          </a:prstGeom>
          <a:solidFill>
            <a:srgbClr val="EEF5F1"/>
          </a:solidFill>
          <a:ln w="12700">
            <a:solidFill>
              <a:srgbClr val="EEF5F1"/>
            </a:solidFill>
            <a:prstDash val="solid"/>
          </a:ln>
        </p:spPr>
        <p:txBody>
          <a:bodyPr/>
          <a:lstStyle/>
          <a:p>
            <a:endParaRPr lang="fr-FR"/>
          </a:p>
        </p:txBody>
      </p:sp>
      <p:sp>
        <p:nvSpPr>
          <p:cNvPr id="16" name="icone-public-3-cercle"/>
          <p:cNvSpPr/>
          <p:nvPr/>
        </p:nvSpPr>
        <p:spPr>
          <a:xfrm>
            <a:off x="868680" y="4206240"/>
            <a:ext cx="822960" cy="822960"/>
          </a:xfrm>
          <a:prstGeom prst="ellipse">
            <a:avLst/>
          </a:prstGeom>
          <a:solidFill>
            <a:srgbClr val="1B6E53"/>
          </a:solidFill>
          <a:ln w="12700">
            <a:solidFill>
              <a:srgbClr val="1B6E53"/>
            </a:solidFill>
            <a:prstDash val="solid"/>
          </a:ln>
        </p:spPr>
        <p:txBody>
          <a:bodyPr/>
          <a:lstStyle/>
          <a:p>
            <a:endParaRPr lang="fr-FR"/>
          </a:p>
        </p:txBody>
      </p:sp>
      <p:pic>
        <p:nvPicPr>
          <p:cNvPr id="17" name="icone-public-3" descr="preencoded.png"/>
          <p:cNvPicPr>
            <a:picLocks noChangeAspect="1"/>
          </p:cNvPicPr>
          <p:nvPr/>
        </p:nvPicPr>
        <p:blipFill>
          <a:blip r:embed="rId5"/>
          <a:stretch>
            <a:fillRect/>
          </a:stretch>
        </p:blipFill>
        <p:spPr>
          <a:xfrm>
            <a:off x="1074420" y="4411980"/>
            <a:ext cx="411480" cy="411480"/>
          </a:xfrm>
          <a:prstGeom prst="rect">
            <a:avLst/>
          </a:prstGeom>
        </p:spPr>
      </p:pic>
      <p:sp>
        <p:nvSpPr>
          <p:cNvPr id="18" name="titre-public-3"/>
          <p:cNvSpPr txBox="1"/>
          <p:nvPr/>
        </p:nvSpPr>
        <p:spPr>
          <a:xfrm>
            <a:off x="1920240" y="4206240"/>
            <a:ext cx="3840480" cy="457200"/>
          </a:xfrm>
          <a:prstGeom prst="rect">
            <a:avLst/>
          </a:prstGeom>
          <a:noFill/>
          <a:ln/>
        </p:spPr>
        <p:txBody>
          <a:bodyPr wrap="square" lIns="0" tIns="0" rIns="0" bIns="0" rtlCol="0" anchor="ctr"/>
          <a:lstStyle/>
          <a:p>
            <a:pPr marL="0" indent="0">
              <a:buNone/>
            </a:pPr>
            <a:r>
              <a:rPr lang="en-US" sz="2100" b="1" dirty="0">
                <a:solidFill>
                  <a:schemeClr val="tx1"/>
                </a:solidFill>
                <a:latin typeface="Lucida Sans" panose="020B0602030504020204" pitchFamily="34" charset="0"/>
              </a:rPr>
              <a:t>L'école</a:t>
            </a:r>
            <a:endParaRPr lang="en-US" sz="2100" dirty="0">
              <a:latin typeface="Lucida Sans" panose="020B0602030504020204" pitchFamily="34" charset="0"/>
            </a:endParaRPr>
          </a:p>
        </p:txBody>
      </p:sp>
      <p:sp>
        <p:nvSpPr>
          <p:cNvPr id="19" name="texte-public-3"/>
          <p:cNvSpPr txBox="1"/>
          <p:nvPr/>
        </p:nvSpPr>
        <p:spPr>
          <a:xfrm>
            <a:off x="1920240" y="4709160"/>
            <a:ext cx="3840480" cy="1005840"/>
          </a:xfrm>
          <a:prstGeom prst="rect">
            <a:avLst/>
          </a:prstGeom>
          <a:noFill/>
          <a:ln/>
        </p:spPr>
        <p:txBody>
          <a:bodyPr wrap="square" lIns="0" tIns="0" rIns="0" bIns="0" rtlCol="0" anchor="t"/>
          <a:lstStyle/>
          <a:p>
            <a:pPr marL="0" indent="0">
              <a:buNone/>
            </a:pPr>
            <a:r>
              <a:rPr lang="en-US" sz="1600" dirty="0">
                <a:solidFill>
                  <a:srgbClr val="5F6B7A"/>
                </a:solidFill>
                <a:latin typeface="Lucida Sans" panose="020B0602030504020204" pitchFamily="34" charset="0"/>
              </a:rPr>
              <a:t>Moins de questions à l'accueil, une image moderne du campus.</a:t>
            </a:r>
            <a:endParaRPr lang="en-US" sz="1600" dirty="0">
              <a:latin typeface="Lucida Sans" panose="020B0602030504020204" pitchFamily="34" charset="0"/>
            </a:endParaRPr>
          </a:p>
        </p:txBody>
      </p:sp>
      <p:sp>
        <p:nvSpPr>
          <p:cNvPr id="20" name="public-4"/>
          <p:cNvSpPr/>
          <p:nvPr/>
        </p:nvSpPr>
        <p:spPr>
          <a:xfrm>
            <a:off x="6172200" y="3840480"/>
            <a:ext cx="5440680" cy="2103120"/>
          </a:xfrm>
          <a:prstGeom prst="roundRect">
            <a:avLst>
              <a:gd name="adj" fmla="val 5217"/>
            </a:avLst>
          </a:prstGeom>
          <a:solidFill>
            <a:srgbClr val="EEF5F1"/>
          </a:solidFill>
          <a:ln w="12700">
            <a:solidFill>
              <a:srgbClr val="EEF5F1"/>
            </a:solidFill>
            <a:prstDash val="solid"/>
          </a:ln>
        </p:spPr>
        <p:txBody>
          <a:bodyPr/>
          <a:lstStyle/>
          <a:p>
            <a:endParaRPr lang="fr-FR"/>
          </a:p>
        </p:txBody>
      </p:sp>
      <p:sp>
        <p:nvSpPr>
          <p:cNvPr id="21" name="icone-public-4-cercle"/>
          <p:cNvSpPr/>
          <p:nvPr/>
        </p:nvSpPr>
        <p:spPr>
          <a:xfrm>
            <a:off x="6492240" y="4206240"/>
            <a:ext cx="822960" cy="822960"/>
          </a:xfrm>
          <a:prstGeom prst="ellipse">
            <a:avLst/>
          </a:prstGeom>
          <a:solidFill>
            <a:srgbClr val="F2A541"/>
          </a:solidFill>
          <a:ln w="12700">
            <a:solidFill>
              <a:srgbClr val="F2A541"/>
            </a:solidFill>
            <a:prstDash val="solid"/>
          </a:ln>
        </p:spPr>
        <p:txBody>
          <a:bodyPr/>
          <a:lstStyle/>
          <a:p>
            <a:endParaRPr lang="fr-FR"/>
          </a:p>
        </p:txBody>
      </p:sp>
      <p:pic>
        <p:nvPicPr>
          <p:cNvPr id="22" name="icone-public-4" descr="preencoded.png"/>
          <p:cNvPicPr>
            <a:picLocks noChangeAspect="1"/>
          </p:cNvPicPr>
          <p:nvPr/>
        </p:nvPicPr>
        <p:blipFill>
          <a:blip r:embed="rId6"/>
          <a:stretch>
            <a:fillRect/>
          </a:stretch>
        </p:blipFill>
        <p:spPr>
          <a:xfrm>
            <a:off x="6697980" y="4411980"/>
            <a:ext cx="411480" cy="411480"/>
          </a:xfrm>
          <a:prstGeom prst="rect">
            <a:avLst/>
          </a:prstGeom>
        </p:spPr>
      </p:pic>
      <p:sp>
        <p:nvSpPr>
          <p:cNvPr id="23" name="titre-public-4"/>
          <p:cNvSpPr txBox="1"/>
          <p:nvPr/>
        </p:nvSpPr>
        <p:spPr>
          <a:xfrm>
            <a:off x="7543800" y="4206240"/>
            <a:ext cx="3840480" cy="457200"/>
          </a:xfrm>
          <a:prstGeom prst="rect">
            <a:avLst/>
          </a:prstGeom>
          <a:noFill/>
          <a:ln/>
        </p:spPr>
        <p:txBody>
          <a:bodyPr wrap="square" lIns="0" tIns="0" rIns="0" bIns="0" rtlCol="0" anchor="ctr"/>
          <a:lstStyle/>
          <a:p>
            <a:pPr marL="0" indent="0">
              <a:buNone/>
            </a:pPr>
            <a:r>
              <a:rPr lang="en-US" sz="2100" b="1" dirty="0">
                <a:solidFill>
                  <a:schemeClr val="tx1"/>
                </a:solidFill>
                <a:latin typeface="Lucida Sans" panose="020B0602030504020204" pitchFamily="34" charset="0"/>
              </a:rPr>
              <a:t>Sans contrainte</a:t>
            </a:r>
            <a:endParaRPr lang="en-US" sz="2100" dirty="0">
              <a:latin typeface="Lucida Sans" panose="020B0602030504020204" pitchFamily="34" charset="0"/>
            </a:endParaRPr>
          </a:p>
        </p:txBody>
      </p:sp>
      <p:sp>
        <p:nvSpPr>
          <p:cNvPr id="24" name="texte-public-4"/>
          <p:cNvSpPr txBox="1"/>
          <p:nvPr/>
        </p:nvSpPr>
        <p:spPr>
          <a:xfrm>
            <a:off x="7543800" y="4709160"/>
            <a:ext cx="3840480" cy="1005840"/>
          </a:xfrm>
          <a:prstGeom prst="rect">
            <a:avLst/>
          </a:prstGeom>
          <a:noFill/>
          <a:ln/>
        </p:spPr>
        <p:txBody>
          <a:bodyPr wrap="square" lIns="0" tIns="0" rIns="0" bIns="0" rtlCol="0" anchor="t"/>
          <a:lstStyle/>
          <a:p>
            <a:pPr marL="0" indent="0">
              <a:buNone/>
            </a:pPr>
            <a:r>
              <a:rPr lang="en-US" sz="1600" dirty="0">
                <a:solidFill>
                  <a:srgbClr val="5F6B7A"/>
                </a:solidFill>
                <a:latin typeface="Lucida Sans" panose="020B0602030504020204" pitchFamily="34" charset="0"/>
              </a:rPr>
              <a:t>Aucune application à installer, aucun compte, aucun Internet nécessaire.</a:t>
            </a:r>
            <a:endParaRPr lang="en-US" sz="1600" dirty="0">
              <a:latin typeface="Lucida Sans" panose="020B0602030504020204" pitchFamily="34" charset="0"/>
            </a:endParaRPr>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F6B7A"/>
                </a:solidFill>
              </a:defRPr>
            </a:lvl1pPr>
          </a:lstStyle>
          <a:p>
            <a:pPr algn="r"/>
            <a:fld id="{F7021451-1387-4CA6-816F-3879F97B5CBC}" type="slidenum">
              <a:rPr lang="en-US" b="0"/>
              <a:t>5</a:t>
            </a:fld>
            <a:endParaRPr lang="en-US"/>
          </a:p>
        </p:txBody>
      </p:sp>
      <p:sp>
        <p:nvSpPr>
          <p:cNvPr id="26" name="ZoneTexte 25">
            <a:extLst>
              <a:ext uri="{FF2B5EF4-FFF2-40B4-BE49-F238E27FC236}">
                <a16:creationId xmlns:a16="http://schemas.microsoft.com/office/drawing/2014/main" id="{7B09A1EF-63C3-B9DA-4FA0-20832CC1D30F}"/>
              </a:ext>
            </a:extLst>
          </p:cNvPr>
          <p:cNvSpPr txBox="1"/>
          <p:nvPr/>
        </p:nvSpPr>
        <p:spPr>
          <a:xfrm>
            <a:off x="537882" y="6400800"/>
            <a:ext cx="3485478" cy="276999"/>
          </a:xfrm>
          <a:prstGeom prst="rect">
            <a:avLst/>
          </a:prstGeom>
          <a:solidFill>
            <a:schemeClr val="bg1"/>
          </a:solidFill>
        </p:spPr>
        <p:txBody>
          <a:bodyPr wrap="square" rtlCol="0">
            <a:spAutoFit/>
          </a:bodyPr>
          <a:lstStyle/>
          <a:p>
            <a:r>
              <a:rPr lang="fr-FR" sz="1200" dirty="0" err="1">
                <a:latin typeface="Lucida Sans" panose="020B0602030504020204" pitchFamily="34" charset="0"/>
              </a:rPr>
              <a:t>MyWay</a:t>
            </a:r>
            <a:r>
              <a:rPr lang="fr-FR" sz="1200" dirty="0">
                <a:latin typeface="Lucida Sans" panose="020B0602030504020204" pitchFamily="34" charset="0"/>
              </a:rPr>
              <a:t> – DiGITAfrikca2026</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11480"/>
            <a:ext cx="8778240" cy="822960"/>
          </a:xfrm>
          <a:prstGeom prst="rect">
            <a:avLst/>
          </a:prstGeom>
          <a:noFill/>
          <a:ln/>
        </p:spPr>
        <p:txBody>
          <a:bodyPr wrap="square" rtlCol="0" anchor="ctr"/>
          <a:lstStyle/>
          <a:p>
            <a:pPr marL="0" indent="0" algn="l">
              <a:buNone/>
            </a:pPr>
            <a:r>
              <a:rPr lang="en-US" dirty="0"/>
              <a:t>Architecture</a:t>
            </a:r>
            <a:endParaRPr lang="en-US" sz="3400" dirty="0"/>
          </a:p>
        </p:txBody>
      </p:sp>
      <p:sp>
        <p:nvSpPr>
          <p:cNvPr id="3" name="pastille-partie"/>
          <p:cNvSpPr/>
          <p:nvPr/>
        </p:nvSpPr>
        <p:spPr>
          <a:xfrm>
            <a:off x="9555480" y="566928"/>
            <a:ext cx="2103120" cy="457200"/>
          </a:xfrm>
          <a:prstGeom prst="roundRect">
            <a:avLst>
              <a:gd name="adj" fmla="val 50000"/>
            </a:avLst>
          </a:prstGeom>
          <a:solidFill>
            <a:schemeClr val="bg2"/>
          </a:solidFill>
          <a:ln w="12700">
            <a:noFill/>
            <a:prstDash val="solid"/>
          </a:ln>
        </p:spPr>
        <p:txBody>
          <a:bodyPr/>
          <a:lstStyle/>
          <a:p>
            <a:endParaRPr lang="fr-FR"/>
          </a:p>
        </p:txBody>
      </p:sp>
      <p:sp>
        <p:nvSpPr>
          <p:cNvPr id="4" name="texte-pastille-partie"/>
          <p:cNvSpPr txBox="1"/>
          <p:nvPr/>
        </p:nvSpPr>
        <p:spPr>
          <a:xfrm>
            <a:off x="9555480" y="557784"/>
            <a:ext cx="2103120" cy="457200"/>
          </a:xfrm>
          <a:prstGeom prst="rect">
            <a:avLst/>
          </a:prstGeom>
          <a:noFill/>
          <a:ln/>
        </p:spPr>
        <p:txBody>
          <a:bodyPr wrap="square" lIns="0" tIns="0" rIns="0" bIns="0" rtlCol="0" anchor="ctr"/>
          <a:lstStyle/>
          <a:p>
            <a:pPr marL="0" indent="0" algn="ctr">
              <a:buNone/>
            </a:pPr>
            <a:r>
              <a:rPr lang="en-US" sz="1300" b="1" dirty="0">
                <a:solidFill>
                  <a:srgbClr val="17312A"/>
                </a:solidFill>
              </a:rPr>
              <a:t>Partie 2 · Technique</a:t>
            </a:r>
            <a:endParaRPr lang="en-US" sz="1300" dirty="0"/>
          </a:p>
        </p:txBody>
      </p:sp>
      <p:sp>
        <p:nvSpPr>
          <p:cNvPr id="5" name="zone-machine"/>
          <p:cNvSpPr/>
          <p:nvPr/>
        </p:nvSpPr>
        <p:spPr>
          <a:xfrm>
            <a:off x="2697480" y="1463040"/>
            <a:ext cx="8961120" cy="3246120"/>
          </a:xfrm>
          <a:prstGeom prst="roundRect">
            <a:avLst>
              <a:gd name="adj" fmla="val 3380"/>
            </a:avLst>
          </a:prstGeom>
          <a:solidFill>
            <a:srgbClr val="EEF5F1"/>
          </a:solidFill>
          <a:ln w="12700">
            <a:solidFill>
              <a:srgbClr val="EEF5F1"/>
            </a:solidFill>
            <a:prstDash val="solid"/>
          </a:ln>
        </p:spPr>
        <p:txBody>
          <a:bodyPr/>
          <a:lstStyle/>
          <a:p>
            <a:endParaRPr lang="fr-FR"/>
          </a:p>
        </p:txBody>
      </p:sp>
      <p:sp>
        <p:nvSpPr>
          <p:cNvPr id="7" name="icone-chaine-1-cercle"/>
          <p:cNvSpPr/>
          <p:nvPr/>
        </p:nvSpPr>
        <p:spPr>
          <a:xfrm>
            <a:off x="1051560" y="2103120"/>
            <a:ext cx="1005840" cy="1005840"/>
          </a:xfrm>
          <a:prstGeom prst="ellipse">
            <a:avLst/>
          </a:prstGeom>
          <a:solidFill>
            <a:srgbClr val="17312A"/>
          </a:solidFill>
          <a:ln w="12700">
            <a:solidFill>
              <a:srgbClr val="17312A"/>
            </a:solidFill>
            <a:prstDash val="solid"/>
          </a:ln>
        </p:spPr>
        <p:txBody>
          <a:bodyPr/>
          <a:lstStyle/>
          <a:p>
            <a:endParaRPr lang="fr-FR"/>
          </a:p>
        </p:txBody>
      </p:sp>
      <p:pic>
        <p:nvPicPr>
          <p:cNvPr id="8" name="icone-chaine-1" descr="preencoded.png"/>
          <p:cNvPicPr>
            <a:picLocks noChangeAspect="1"/>
          </p:cNvPicPr>
          <p:nvPr/>
        </p:nvPicPr>
        <p:blipFill>
          <a:blip r:embed="rId3"/>
          <a:stretch>
            <a:fillRect/>
          </a:stretch>
        </p:blipFill>
        <p:spPr>
          <a:xfrm>
            <a:off x="1303020" y="2354580"/>
            <a:ext cx="502920" cy="502920"/>
          </a:xfrm>
          <a:prstGeom prst="rect">
            <a:avLst/>
          </a:prstGeom>
        </p:spPr>
      </p:pic>
      <p:sp>
        <p:nvSpPr>
          <p:cNvPr id="9" name="titre-chaine-1"/>
          <p:cNvSpPr txBox="1"/>
          <p:nvPr/>
        </p:nvSpPr>
        <p:spPr>
          <a:xfrm>
            <a:off x="548640" y="3246120"/>
            <a:ext cx="2011680" cy="411480"/>
          </a:xfrm>
          <a:prstGeom prst="rect">
            <a:avLst/>
          </a:prstGeom>
          <a:noFill/>
          <a:ln/>
        </p:spPr>
        <p:txBody>
          <a:bodyPr wrap="square" lIns="0" tIns="0" rIns="0" bIns="0" rtlCol="0" anchor="ctr"/>
          <a:lstStyle/>
          <a:p>
            <a:pPr marL="0" indent="0" algn="ctr">
              <a:buNone/>
            </a:pPr>
            <a:r>
              <a:rPr lang="en-US" sz="1800" b="1" dirty="0">
                <a:solidFill>
                  <a:schemeClr val="tx1"/>
                </a:solidFill>
              </a:rPr>
              <a:t>Téléphone</a:t>
            </a:r>
            <a:endParaRPr lang="en-US" sz="1800" dirty="0"/>
          </a:p>
        </p:txBody>
      </p:sp>
      <p:sp>
        <p:nvSpPr>
          <p:cNvPr id="10" name="texte-chaine-1"/>
          <p:cNvSpPr txBox="1"/>
          <p:nvPr/>
        </p:nvSpPr>
        <p:spPr>
          <a:xfrm>
            <a:off x="548640" y="3657600"/>
            <a:ext cx="2011680" cy="822960"/>
          </a:xfrm>
          <a:prstGeom prst="rect">
            <a:avLst/>
          </a:prstGeom>
          <a:noFill/>
          <a:ln/>
        </p:spPr>
        <p:txBody>
          <a:bodyPr wrap="square" lIns="0" tIns="0" rIns="0" bIns="0" rtlCol="0" anchor="t"/>
          <a:lstStyle/>
          <a:p>
            <a:pPr marL="0" indent="0" algn="ctr">
              <a:buNone/>
            </a:pPr>
            <a:r>
              <a:rPr lang="en-US" sz="1400" dirty="0">
                <a:solidFill>
                  <a:srgbClr val="5F6B7A"/>
                </a:solidFill>
              </a:rPr>
              <a:t>Scanne et affiche</a:t>
            </a:r>
            <a:endParaRPr lang="en-US" sz="1400" dirty="0"/>
          </a:p>
        </p:txBody>
      </p:sp>
      <p:sp>
        <p:nvSpPr>
          <p:cNvPr id="11" name="fleche-chaine-1"/>
          <p:cNvSpPr/>
          <p:nvPr/>
        </p:nvSpPr>
        <p:spPr>
          <a:xfrm>
            <a:off x="2194560" y="2606040"/>
            <a:ext cx="1188720" cy="914"/>
          </a:xfrm>
          <a:prstGeom prst="line">
            <a:avLst/>
          </a:prstGeom>
          <a:noFill/>
          <a:ln w="31750">
            <a:solidFill>
              <a:srgbClr val="1B6E53"/>
            </a:solidFill>
            <a:prstDash val="solid"/>
            <a:tailEnd type="triangle"/>
          </a:ln>
        </p:spPr>
        <p:txBody>
          <a:bodyPr/>
          <a:lstStyle/>
          <a:p>
            <a:endParaRPr lang="fr-FR"/>
          </a:p>
        </p:txBody>
      </p:sp>
      <p:sp>
        <p:nvSpPr>
          <p:cNvPr id="12" name="icone-chaine-2-cercle"/>
          <p:cNvSpPr/>
          <p:nvPr/>
        </p:nvSpPr>
        <p:spPr>
          <a:xfrm>
            <a:off x="3474720" y="2103120"/>
            <a:ext cx="1005840" cy="1005840"/>
          </a:xfrm>
          <a:prstGeom prst="ellipse">
            <a:avLst/>
          </a:prstGeom>
          <a:solidFill>
            <a:srgbClr val="1B6E53"/>
          </a:solidFill>
          <a:ln w="12700">
            <a:solidFill>
              <a:srgbClr val="1B6E53"/>
            </a:solidFill>
            <a:prstDash val="solid"/>
          </a:ln>
        </p:spPr>
        <p:txBody>
          <a:bodyPr/>
          <a:lstStyle/>
          <a:p>
            <a:endParaRPr lang="fr-FR"/>
          </a:p>
        </p:txBody>
      </p:sp>
      <p:pic>
        <p:nvPicPr>
          <p:cNvPr id="13" name="icone-chaine-2" descr="preencoded.png"/>
          <p:cNvPicPr>
            <a:picLocks noChangeAspect="1"/>
          </p:cNvPicPr>
          <p:nvPr/>
        </p:nvPicPr>
        <p:blipFill>
          <a:blip r:embed="rId4"/>
          <a:stretch>
            <a:fillRect/>
          </a:stretch>
        </p:blipFill>
        <p:spPr>
          <a:xfrm>
            <a:off x="3726180" y="2354580"/>
            <a:ext cx="502920" cy="502920"/>
          </a:xfrm>
          <a:prstGeom prst="rect">
            <a:avLst/>
          </a:prstGeom>
        </p:spPr>
      </p:pic>
      <p:sp>
        <p:nvSpPr>
          <p:cNvPr id="14" name="titre-chaine-2"/>
          <p:cNvSpPr txBox="1"/>
          <p:nvPr/>
        </p:nvSpPr>
        <p:spPr>
          <a:xfrm>
            <a:off x="2971800" y="3246120"/>
            <a:ext cx="2011680" cy="411480"/>
          </a:xfrm>
          <a:prstGeom prst="rect">
            <a:avLst/>
          </a:prstGeom>
          <a:noFill/>
          <a:ln/>
        </p:spPr>
        <p:txBody>
          <a:bodyPr wrap="square" lIns="0" tIns="0" rIns="0" bIns="0" rtlCol="0" anchor="ctr"/>
          <a:lstStyle/>
          <a:p>
            <a:pPr marL="0" indent="0" algn="ctr">
              <a:buNone/>
            </a:pPr>
            <a:r>
              <a:rPr lang="en-US" sz="1800" b="1" dirty="0">
                <a:solidFill>
                  <a:schemeClr val="tx1"/>
                </a:solidFill>
              </a:rPr>
              <a:t>Box 5G</a:t>
            </a:r>
            <a:endParaRPr lang="en-US" sz="1800" dirty="0"/>
          </a:p>
        </p:txBody>
      </p:sp>
      <p:sp>
        <p:nvSpPr>
          <p:cNvPr id="15" name="texte-chaine-2"/>
          <p:cNvSpPr txBox="1"/>
          <p:nvPr/>
        </p:nvSpPr>
        <p:spPr>
          <a:xfrm>
            <a:off x="2971800" y="3657600"/>
            <a:ext cx="2011680" cy="822960"/>
          </a:xfrm>
          <a:prstGeom prst="rect">
            <a:avLst/>
          </a:prstGeom>
          <a:noFill/>
          <a:ln/>
        </p:spPr>
        <p:txBody>
          <a:bodyPr wrap="square" lIns="0" tIns="0" rIns="0" bIns="0" rtlCol="0" anchor="t"/>
          <a:lstStyle/>
          <a:p>
            <a:pPr marL="0" indent="0" algn="ctr">
              <a:buNone/>
            </a:pPr>
            <a:r>
              <a:rPr lang="en-US" sz="1400" dirty="0">
                <a:solidFill>
                  <a:srgbClr val="5F6B7A"/>
                </a:solidFill>
              </a:rPr>
              <a:t>Relie le téléphone au réseau 5G</a:t>
            </a:r>
            <a:endParaRPr lang="en-US" sz="1400" dirty="0"/>
          </a:p>
        </p:txBody>
      </p:sp>
      <p:sp>
        <p:nvSpPr>
          <p:cNvPr id="16" name="fleche-chaine-2"/>
          <p:cNvSpPr/>
          <p:nvPr/>
        </p:nvSpPr>
        <p:spPr>
          <a:xfrm>
            <a:off x="4617720" y="2606040"/>
            <a:ext cx="960120" cy="914"/>
          </a:xfrm>
          <a:prstGeom prst="line">
            <a:avLst/>
          </a:prstGeom>
          <a:noFill/>
          <a:ln w="31750">
            <a:solidFill>
              <a:srgbClr val="1B6E53"/>
            </a:solidFill>
            <a:prstDash val="solid"/>
            <a:tailEnd type="triangle"/>
          </a:ln>
        </p:spPr>
        <p:txBody>
          <a:bodyPr/>
          <a:lstStyle/>
          <a:p>
            <a:endParaRPr lang="fr-FR"/>
          </a:p>
        </p:txBody>
      </p:sp>
      <p:sp>
        <p:nvSpPr>
          <p:cNvPr id="17" name="icone-chaine-3-cercle"/>
          <p:cNvSpPr/>
          <p:nvPr/>
        </p:nvSpPr>
        <p:spPr>
          <a:xfrm>
            <a:off x="5669280" y="2103120"/>
            <a:ext cx="1005840" cy="1005840"/>
          </a:xfrm>
          <a:prstGeom prst="ellipse">
            <a:avLst/>
          </a:prstGeom>
          <a:solidFill>
            <a:srgbClr val="1B6E53"/>
          </a:solidFill>
          <a:ln w="12700">
            <a:solidFill>
              <a:srgbClr val="1B6E53"/>
            </a:solidFill>
            <a:prstDash val="solid"/>
          </a:ln>
        </p:spPr>
        <p:txBody>
          <a:bodyPr/>
          <a:lstStyle/>
          <a:p>
            <a:endParaRPr lang="fr-FR"/>
          </a:p>
        </p:txBody>
      </p:sp>
      <p:pic>
        <p:nvPicPr>
          <p:cNvPr id="18" name="icone-chaine-3" descr="preencoded.png"/>
          <p:cNvPicPr>
            <a:picLocks noChangeAspect="1"/>
          </p:cNvPicPr>
          <p:nvPr/>
        </p:nvPicPr>
        <p:blipFill>
          <a:blip r:embed="rId5"/>
          <a:stretch>
            <a:fillRect/>
          </a:stretch>
        </p:blipFill>
        <p:spPr>
          <a:xfrm>
            <a:off x="5920740" y="2354580"/>
            <a:ext cx="502920" cy="502920"/>
          </a:xfrm>
          <a:prstGeom prst="rect">
            <a:avLst/>
          </a:prstGeom>
        </p:spPr>
      </p:pic>
      <p:sp>
        <p:nvSpPr>
          <p:cNvPr id="19" name="titre-chaine-3"/>
          <p:cNvSpPr txBox="1"/>
          <p:nvPr/>
        </p:nvSpPr>
        <p:spPr>
          <a:xfrm>
            <a:off x="5166360" y="3246120"/>
            <a:ext cx="2011680" cy="411480"/>
          </a:xfrm>
          <a:prstGeom prst="rect">
            <a:avLst/>
          </a:prstGeom>
          <a:noFill/>
          <a:ln/>
        </p:spPr>
        <p:txBody>
          <a:bodyPr wrap="square" lIns="0" tIns="0" rIns="0" bIns="0" rtlCol="0" anchor="ctr"/>
          <a:lstStyle/>
          <a:p>
            <a:pPr marL="0" indent="0" algn="ctr">
              <a:buNone/>
            </a:pPr>
            <a:r>
              <a:rPr lang="en-US" sz="1800" b="1" dirty="0">
                <a:solidFill>
                  <a:schemeClr val="tx1"/>
                </a:solidFill>
              </a:rPr>
              <a:t>Antenne 5G</a:t>
            </a:r>
            <a:endParaRPr lang="en-US" sz="1800" dirty="0"/>
          </a:p>
        </p:txBody>
      </p:sp>
      <p:sp>
        <p:nvSpPr>
          <p:cNvPr id="20" name="texte-chaine-3"/>
          <p:cNvSpPr txBox="1"/>
          <p:nvPr/>
        </p:nvSpPr>
        <p:spPr>
          <a:xfrm>
            <a:off x="5166360" y="3657600"/>
            <a:ext cx="2011680" cy="822960"/>
          </a:xfrm>
          <a:prstGeom prst="rect">
            <a:avLst/>
          </a:prstGeom>
          <a:noFill/>
          <a:ln/>
        </p:spPr>
        <p:txBody>
          <a:bodyPr wrap="square" lIns="0" tIns="0" rIns="0" bIns="0" rtlCol="0" anchor="t"/>
          <a:lstStyle/>
          <a:p>
            <a:pPr marL="0" indent="0" algn="ctr">
              <a:buNone/>
            </a:pPr>
            <a:r>
              <a:rPr lang="en-US" sz="1400" dirty="0">
                <a:solidFill>
                  <a:srgbClr val="5F6B7A"/>
                </a:solidFill>
              </a:rPr>
              <a:t>Transmet les données</a:t>
            </a:r>
            <a:endParaRPr lang="en-US" sz="1400" dirty="0"/>
          </a:p>
        </p:txBody>
      </p:sp>
      <p:sp>
        <p:nvSpPr>
          <p:cNvPr id="21" name="fleche-chaine-3"/>
          <p:cNvSpPr/>
          <p:nvPr/>
        </p:nvSpPr>
        <p:spPr>
          <a:xfrm>
            <a:off x="6812280" y="2606040"/>
            <a:ext cx="960120" cy="914"/>
          </a:xfrm>
          <a:prstGeom prst="line">
            <a:avLst/>
          </a:prstGeom>
          <a:noFill/>
          <a:ln w="31750">
            <a:solidFill>
              <a:srgbClr val="1B6E53"/>
            </a:solidFill>
            <a:prstDash val="solid"/>
            <a:tailEnd type="triangle"/>
          </a:ln>
        </p:spPr>
        <p:txBody>
          <a:bodyPr/>
          <a:lstStyle/>
          <a:p>
            <a:endParaRPr lang="fr-FR"/>
          </a:p>
        </p:txBody>
      </p:sp>
      <p:sp>
        <p:nvSpPr>
          <p:cNvPr id="22" name="icone-chaine-4-cercle"/>
          <p:cNvSpPr/>
          <p:nvPr/>
        </p:nvSpPr>
        <p:spPr>
          <a:xfrm>
            <a:off x="7863840" y="2103120"/>
            <a:ext cx="1005840" cy="1005840"/>
          </a:xfrm>
          <a:prstGeom prst="ellipse">
            <a:avLst/>
          </a:prstGeom>
          <a:solidFill>
            <a:srgbClr val="1B6E53"/>
          </a:solidFill>
          <a:ln w="12700">
            <a:solidFill>
              <a:srgbClr val="1B6E53"/>
            </a:solidFill>
            <a:prstDash val="solid"/>
          </a:ln>
        </p:spPr>
        <p:txBody>
          <a:bodyPr/>
          <a:lstStyle/>
          <a:p>
            <a:endParaRPr lang="fr-FR"/>
          </a:p>
        </p:txBody>
      </p:sp>
      <p:pic>
        <p:nvPicPr>
          <p:cNvPr id="23" name="icone-chaine-4" descr="preencoded.png"/>
          <p:cNvPicPr>
            <a:picLocks noChangeAspect="1"/>
          </p:cNvPicPr>
          <p:nvPr/>
        </p:nvPicPr>
        <p:blipFill>
          <a:blip r:embed="rId6"/>
          <a:stretch>
            <a:fillRect/>
          </a:stretch>
        </p:blipFill>
        <p:spPr>
          <a:xfrm>
            <a:off x="8115300" y="2354580"/>
            <a:ext cx="502920" cy="502920"/>
          </a:xfrm>
          <a:prstGeom prst="rect">
            <a:avLst/>
          </a:prstGeom>
        </p:spPr>
      </p:pic>
      <p:sp>
        <p:nvSpPr>
          <p:cNvPr id="24" name="titre-chaine-4"/>
          <p:cNvSpPr txBox="1"/>
          <p:nvPr/>
        </p:nvSpPr>
        <p:spPr>
          <a:xfrm>
            <a:off x="7360920" y="3246120"/>
            <a:ext cx="2011680" cy="411480"/>
          </a:xfrm>
          <a:prstGeom prst="rect">
            <a:avLst/>
          </a:prstGeom>
          <a:noFill/>
          <a:ln/>
        </p:spPr>
        <p:txBody>
          <a:bodyPr wrap="square" lIns="0" tIns="0" rIns="0" bIns="0" rtlCol="0" anchor="ctr"/>
          <a:lstStyle/>
          <a:p>
            <a:pPr marL="0" indent="0" algn="ctr">
              <a:buNone/>
            </a:pPr>
            <a:r>
              <a:rPr lang="en-US" sz="1800" b="1" dirty="0">
                <a:solidFill>
                  <a:schemeClr val="tx1"/>
                </a:solidFill>
              </a:rPr>
              <a:t>Cœur de réseau</a:t>
            </a:r>
            <a:endParaRPr lang="en-US" sz="1800" dirty="0"/>
          </a:p>
        </p:txBody>
      </p:sp>
      <p:sp>
        <p:nvSpPr>
          <p:cNvPr id="25" name="texte-chaine-4"/>
          <p:cNvSpPr txBox="1"/>
          <p:nvPr/>
        </p:nvSpPr>
        <p:spPr>
          <a:xfrm>
            <a:off x="7360920" y="3657600"/>
            <a:ext cx="2011680" cy="822960"/>
          </a:xfrm>
          <a:prstGeom prst="rect">
            <a:avLst/>
          </a:prstGeom>
          <a:noFill/>
          <a:ln/>
        </p:spPr>
        <p:txBody>
          <a:bodyPr wrap="square" lIns="0" tIns="0" rIns="0" bIns="0" rtlCol="0" anchor="t"/>
          <a:lstStyle/>
          <a:p>
            <a:pPr marL="0" indent="0" algn="ctr">
              <a:buNone/>
            </a:pPr>
            <a:r>
              <a:rPr lang="en-US" sz="1400" dirty="0">
                <a:solidFill>
                  <a:srgbClr val="5F6B7A"/>
                </a:solidFill>
              </a:rPr>
              <a:t>Vérifie et oriente</a:t>
            </a:r>
            <a:endParaRPr lang="en-US" sz="1400" dirty="0"/>
          </a:p>
        </p:txBody>
      </p:sp>
      <p:sp>
        <p:nvSpPr>
          <p:cNvPr id="26" name="fleche-chaine-4"/>
          <p:cNvSpPr/>
          <p:nvPr/>
        </p:nvSpPr>
        <p:spPr>
          <a:xfrm>
            <a:off x="9006840" y="2606040"/>
            <a:ext cx="960120" cy="914"/>
          </a:xfrm>
          <a:prstGeom prst="line">
            <a:avLst/>
          </a:prstGeom>
          <a:noFill/>
          <a:ln w="31750">
            <a:solidFill>
              <a:srgbClr val="1B6E53"/>
            </a:solidFill>
            <a:prstDash val="solid"/>
            <a:tailEnd type="triangle"/>
          </a:ln>
        </p:spPr>
        <p:txBody>
          <a:bodyPr/>
          <a:lstStyle/>
          <a:p>
            <a:endParaRPr lang="fr-FR"/>
          </a:p>
        </p:txBody>
      </p:sp>
      <p:sp>
        <p:nvSpPr>
          <p:cNvPr id="27" name="icone-chaine-5-cercle"/>
          <p:cNvSpPr/>
          <p:nvPr/>
        </p:nvSpPr>
        <p:spPr>
          <a:xfrm>
            <a:off x="10058400" y="2103120"/>
            <a:ext cx="1005840" cy="1005840"/>
          </a:xfrm>
          <a:prstGeom prst="ellipse">
            <a:avLst/>
          </a:prstGeom>
          <a:solidFill>
            <a:srgbClr val="F2A541"/>
          </a:solidFill>
          <a:ln w="12700">
            <a:solidFill>
              <a:srgbClr val="F2A541"/>
            </a:solidFill>
            <a:prstDash val="solid"/>
          </a:ln>
        </p:spPr>
        <p:txBody>
          <a:bodyPr/>
          <a:lstStyle/>
          <a:p>
            <a:endParaRPr lang="fr-FR"/>
          </a:p>
        </p:txBody>
      </p:sp>
      <p:pic>
        <p:nvPicPr>
          <p:cNvPr id="28" name="icone-chaine-5" descr="preencoded.png"/>
          <p:cNvPicPr>
            <a:picLocks noChangeAspect="1"/>
          </p:cNvPicPr>
          <p:nvPr/>
        </p:nvPicPr>
        <p:blipFill>
          <a:blip r:embed="rId7"/>
          <a:stretch>
            <a:fillRect/>
          </a:stretch>
        </p:blipFill>
        <p:spPr>
          <a:xfrm>
            <a:off x="10309860" y="2354580"/>
            <a:ext cx="502920" cy="502920"/>
          </a:xfrm>
          <a:prstGeom prst="rect">
            <a:avLst/>
          </a:prstGeom>
        </p:spPr>
      </p:pic>
      <p:sp>
        <p:nvSpPr>
          <p:cNvPr id="29" name="titre-chaine-5"/>
          <p:cNvSpPr txBox="1"/>
          <p:nvPr/>
        </p:nvSpPr>
        <p:spPr>
          <a:xfrm>
            <a:off x="9555480" y="3246120"/>
            <a:ext cx="2011680" cy="411480"/>
          </a:xfrm>
          <a:prstGeom prst="rect">
            <a:avLst/>
          </a:prstGeom>
          <a:noFill/>
          <a:ln/>
        </p:spPr>
        <p:txBody>
          <a:bodyPr wrap="square" lIns="0" tIns="0" rIns="0" bIns="0" rtlCol="0" anchor="ctr"/>
          <a:lstStyle/>
          <a:p>
            <a:pPr marL="0" indent="0" algn="ctr">
              <a:buNone/>
            </a:pPr>
            <a:r>
              <a:rPr lang="en-US" sz="1800" b="1" dirty="0">
                <a:solidFill>
                  <a:schemeClr val="tx1"/>
                </a:solidFill>
              </a:rPr>
              <a:t>Serveur du guide</a:t>
            </a:r>
            <a:endParaRPr lang="en-US" sz="1800" dirty="0"/>
          </a:p>
        </p:txBody>
      </p:sp>
      <p:sp>
        <p:nvSpPr>
          <p:cNvPr id="30" name="texte-chaine-5"/>
          <p:cNvSpPr txBox="1"/>
          <p:nvPr/>
        </p:nvSpPr>
        <p:spPr>
          <a:xfrm>
            <a:off x="9555480" y="3657600"/>
            <a:ext cx="2011680" cy="822960"/>
          </a:xfrm>
          <a:prstGeom prst="rect">
            <a:avLst/>
          </a:prstGeom>
          <a:noFill/>
          <a:ln/>
        </p:spPr>
        <p:txBody>
          <a:bodyPr wrap="square" lIns="0" tIns="0" rIns="0" bIns="0" rtlCol="0" anchor="t"/>
          <a:lstStyle/>
          <a:p>
            <a:pPr marL="0" indent="0" algn="ctr">
              <a:buNone/>
            </a:pPr>
            <a:r>
              <a:rPr lang="en-US" sz="1400" dirty="0">
                <a:solidFill>
                  <a:srgbClr val="5F6B7A"/>
                </a:solidFill>
              </a:rPr>
              <a:t>Fournit plan et photos</a:t>
            </a:r>
            <a:endParaRPr lang="en-US" sz="1400" dirty="0"/>
          </a:p>
        </p:txBody>
      </p:sp>
      <p:sp>
        <p:nvSpPr>
          <p:cNvPr id="31" name="message-chaine"/>
          <p:cNvSpPr/>
          <p:nvPr/>
        </p:nvSpPr>
        <p:spPr>
          <a:xfrm>
            <a:off x="548640" y="5029200"/>
            <a:ext cx="11109960" cy="1051560"/>
          </a:xfrm>
          <a:prstGeom prst="roundRect">
            <a:avLst>
              <a:gd name="adj" fmla="val 10435"/>
            </a:avLst>
          </a:prstGeom>
          <a:solidFill>
            <a:srgbClr val="17312A"/>
          </a:solidFill>
          <a:ln w="12700">
            <a:solidFill>
              <a:srgbClr val="17312A"/>
            </a:solidFill>
            <a:prstDash val="solid"/>
          </a:ln>
        </p:spPr>
        <p:txBody>
          <a:bodyPr/>
          <a:lstStyle/>
          <a:p>
            <a:endParaRPr lang="fr-FR"/>
          </a:p>
        </p:txBody>
      </p:sp>
      <p:sp>
        <p:nvSpPr>
          <p:cNvPr id="32" name="texte-message-chaine"/>
          <p:cNvSpPr txBox="1"/>
          <p:nvPr/>
        </p:nvSpPr>
        <p:spPr>
          <a:xfrm>
            <a:off x="822960" y="5029200"/>
            <a:ext cx="10607040" cy="1051560"/>
          </a:xfrm>
          <a:prstGeom prst="rect">
            <a:avLst/>
          </a:prstGeom>
          <a:noFill/>
          <a:ln/>
        </p:spPr>
        <p:txBody>
          <a:bodyPr wrap="square" lIns="0" tIns="0" rIns="0" bIns="0" rtlCol="0" anchor="ctr"/>
          <a:lstStyle/>
          <a:p>
            <a:pPr marL="0" indent="0">
              <a:buNone/>
            </a:pPr>
            <a:r>
              <a:rPr lang="en-US" sz="1700" dirty="0">
                <a:solidFill>
                  <a:srgbClr val="FFFFFF"/>
                </a:solidFill>
              </a:rPr>
              <a:t>Comme chez un opérateur téléphonique : la page passe par l'antenne et par le cœur de réseau 5G, mais tout reste dans l'école.</a:t>
            </a:r>
            <a:endParaRPr lang="en-US" sz="1700" dirty="0"/>
          </a:p>
        </p:txBody>
      </p:sp>
      <p:sp>
        <p:nvSpPr>
          <p:cNvPr id="33"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F6B7A"/>
                </a:solidFill>
              </a:defRPr>
            </a:lvl1pPr>
          </a:lstStyle>
          <a:p>
            <a:pPr algn="r"/>
            <a:fld id="{F7021451-1387-4CA6-816F-3879F97B5CBC}" type="slidenum">
              <a:rPr lang="en-US" b="0"/>
              <a:t>6</a:t>
            </a:fld>
            <a:endParaRPr lang="en-US"/>
          </a:p>
        </p:txBody>
      </p:sp>
      <p:sp>
        <p:nvSpPr>
          <p:cNvPr id="34" name="ZoneTexte 33">
            <a:extLst>
              <a:ext uri="{FF2B5EF4-FFF2-40B4-BE49-F238E27FC236}">
                <a16:creationId xmlns:a16="http://schemas.microsoft.com/office/drawing/2014/main" id="{422ACA0A-98CE-440F-91F6-0B3A43FFDB32}"/>
              </a:ext>
            </a:extLst>
          </p:cNvPr>
          <p:cNvSpPr txBox="1"/>
          <p:nvPr/>
        </p:nvSpPr>
        <p:spPr>
          <a:xfrm>
            <a:off x="537882" y="6400800"/>
            <a:ext cx="3485478" cy="276999"/>
          </a:xfrm>
          <a:prstGeom prst="rect">
            <a:avLst/>
          </a:prstGeom>
          <a:solidFill>
            <a:schemeClr val="bg1"/>
          </a:solidFill>
        </p:spPr>
        <p:txBody>
          <a:bodyPr wrap="square" rtlCol="0">
            <a:spAutoFit/>
          </a:bodyPr>
          <a:lstStyle/>
          <a:p>
            <a:r>
              <a:rPr lang="fr-FR" sz="1200" dirty="0" err="1">
                <a:latin typeface="Lucida Sans" panose="020B0602030504020204" pitchFamily="34" charset="0"/>
              </a:rPr>
              <a:t>MyWay</a:t>
            </a:r>
            <a:r>
              <a:rPr lang="fr-FR" sz="1200" dirty="0">
                <a:latin typeface="Lucida Sans" panose="020B0602030504020204" pitchFamily="34" charset="0"/>
              </a:rPr>
              <a:t> – DiGITAfrikca2026</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0" presetClass="entr" presetSubtype="0"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fade">
                                      <p:cBhvr>
                                        <p:cTn id="11" dur="500"/>
                                        <p:tgtEl>
                                          <p:spTgt spid="7"/>
                                        </p:tgtEl>
                                      </p:cBhvr>
                                    </p:animEffect>
                                  </p:childTnLst>
                                </p:cTn>
                              </p:par>
                              <p:par>
                                <p:cTn id="12" presetID="10" presetClass="entr" presetSubtype="0" fill="hold" nodeType="withEffect">
                                  <p:stCondLst>
                                    <p:cond delay="0"/>
                                  </p:stCondLst>
                                  <p:childTnLst>
                                    <p:set>
                                      <p:cBhvr>
                                        <p:cTn id="13" dur="1" fill="hold">
                                          <p:stCondLst>
                                            <p:cond delay="0"/>
                                          </p:stCondLst>
                                        </p:cTn>
                                        <p:tgtEl>
                                          <p:spTgt spid="8"/>
                                        </p:tgtEl>
                                        <p:attrNameLst>
                                          <p:attrName>style.visibility</p:attrName>
                                        </p:attrNameLst>
                                      </p:cBhvr>
                                      <p:to>
                                        <p:strVal val="visible"/>
                                      </p:to>
                                    </p:set>
                                    <p:animEffect transition="in" filter="fade">
                                      <p:cBhvr>
                                        <p:cTn id="14" dur="500"/>
                                        <p:tgtEl>
                                          <p:spTgt spid="8"/>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12"/>
                                        </p:tgtEl>
                                        <p:attrNameLst>
                                          <p:attrName>style.visibility</p:attrName>
                                        </p:attrNameLst>
                                      </p:cBhvr>
                                      <p:to>
                                        <p:strVal val="visible"/>
                                      </p:to>
                                    </p:set>
                                    <p:animEffect transition="in" filter="fade">
                                      <p:cBhvr>
                                        <p:cTn id="17" dur="500"/>
                                        <p:tgtEl>
                                          <p:spTgt spid="12"/>
                                        </p:tgtEl>
                                      </p:cBhvr>
                                    </p:animEffect>
                                  </p:childTnLst>
                                </p:cTn>
                              </p:par>
                              <p:par>
                                <p:cTn id="18" presetID="10" presetClass="entr" presetSubtype="0" fill="hold" nodeType="withEffect">
                                  <p:stCondLst>
                                    <p:cond delay="0"/>
                                  </p:stCondLst>
                                  <p:childTnLst>
                                    <p:set>
                                      <p:cBhvr>
                                        <p:cTn id="19" dur="1" fill="hold">
                                          <p:stCondLst>
                                            <p:cond delay="0"/>
                                          </p:stCondLst>
                                        </p:cTn>
                                        <p:tgtEl>
                                          <p:spTgt spid="13"/>
                                        </p:tgtEl>
                                        <p:attrNameLst>
                                          <p:attrName>style.visibility</p:attrName>
                                        </p:attrNameLst>
                                      </p:cBhvr>
                                      <p:to>
                                        <p:strVal val="visible"/>
                                      </p:to>
                                    </p:set>
                                    <p:animEffect transition="in" filter="fade">
                                      <p:cBhvr>
                                        <p:cTn id="20" dur="500"/>
                                        <p:tgtEl>
                                          <p:spTgt spid="13"/>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17"/>
                                        </p:tgtEl>
                                        <p:attrNameLst>
                                          <p:attrName>style.visibility</p:attrName>
                                        </p:attrNameLst>
                                      </p:cBhvr>
                                      <p:to>
                                        <p:strVal val="visible"/>
                                      </p:to>
                                    </p:set>
                                    <p:animEffect transition="in" filter="fade">
                                      <p:cBhvr>
                                        <p:cTn id="23" dur="500"/>
                                        <p:tgtEl>
                                          <p:spTgt spid="17"/>
                                        </p:tgtEl>
                                      </p:cBhvr>
                                    </p:animEffect>
                                  </p:childTnLst>
                                </p:cTn>
                              </p:par>
                              <p:par>
                                <p:cTn id="24" presetID="10" presetClass="entr" presetSubtype="0" fill="hold" nodeType="withEffect">
                                  <p:stCondLst>
                                    <p:cond delay="0"/>
                                  </p:stCondLst>
                                  <p:childTnLst>
                                    <p:set>
                                      <p:cBhvr>
                                        <p:cTn id="25" dur="1" fill="hold">
                                          <p:stCondLst>
                                            <p:cond delay="0"/>
                                          </p:stCondLst>
                                        </p:cTn>
                                        <p:tgtEl>
                                          <p:spTgt spid="18"/>
                                        </p:tgtEl>
                                        <p:attrNameLst>
                                          <p:attrName>style.visibility</p:attrName>
                                        </p:attrNameLst>
                                      </p:cBhvr>
                                      <p:to>
                                        <p:strVal val="visible"/>
                                      </p:to>
                                    </p:set>
                                    <p:animEffect transition="in" filter="fade">
                                      <p:cBhvr>
                                        <p:cTn id="26" dur="500"/>
                                        <p:tgtEl>
                                          <p:spTgt spid="18"/>
                                        </p:tgtEl>
                                      </p:cBhvr>
                                    </p:animEffect>
                                  </p:childTnLst>
                                </p:cTn>
                              </p:par>
                              <p:par>
                                <p:cTn id="27" presetID="10" presetClass="entr" presetSubtype="0" fill="hold" nodeType="withEffect">
                                  <p:stCondLst>
                                    <p:cond delay="0"/>
                                  </p:stCondLst>
                                  <p:childTnLst>
                                    <p:set>
                                      <p:cBhvr>
                                        <p:cTn id="28" dur="1" fill="hold">
                                          <p:stCondLst>
                                            <p:cond delay="0"/>
                                          </p:stCondLst>
                                        </p:cTn>
                                        <p:tgtEl>
                                          <p:spTgt spid="23"/>
                                        </p:tgtEl>
                                        <p:attrNameLst>
                                          <p:attrName>style.visibility</p:attrName>
                                        </p:attrNameLst>
                                      </p:cBhvr>
                                      <p:to>
                                        <p:strVal val="visible"/>
                                      </p:to>
                                    </p:set>
                                    <p:animEffect transition="in" filter="fade">
                                      <p:cBhvr>
                                        <p:cTn id="29" dur="500"/>
                                        <p:tgtEl>
                                          <p:spTgt spid="23"/>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22"/>
                                        </p:tgtEl>
                                        <p:attrNameLst>
                                          <p:attrName>style.visibility</p:attrName>
                                        </p:attrNameLst>
                                      </p:cBhvr>
                                      <p:to>
                                        <p:strVal val="visible"/>
                                      </p:to>
                                    </p:set>
                                    <p:animEffect transition="in" filter="fade">
                                      <p:cBhvr>
                                        <p:cTn id="32" dur="500"/>
                                        <p:tgtEl>
                                          <p:spTgt spid="22"/>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27"/>
                                        </p:tgtEl>
                                        <p:attrNameLst>
                                          <p:attrName>style.visibility</p:attrName>
                                        </p:attrNameLst>
                                      </p:cBhvr>
                                      <p:to>
                                        <p:strVal val="visible"/>
                                      </p:to>
                                    </p:set>
                                    <p:animEffect transition="in" filter="fade">
                                      <p:cBhvr>
                                        <p:cTn id="35" dur="500"/>
                                        <p:tgtEl>
                                          <p:spTgt spid="27"/>
                                        </p:tgtEl>
                                      </p:cBhvr>
                                    </p:animEffect>
                                  </p:childTnLst>
                                </p:cTn>
                              </p:par>
                              <p:par>
                                <p:cTn id="36" presetID="10" presetClass="entr" presetSubtype="0" fill="hold" nodeType="withEffect">
                                  <p:stCondLst>
                                    <p:cond delay="0"/>
                                  </p:stCondLst>
                                  <p:childTnLst>
                                    <p:set>
                                      <p:cBhvr>
                                        <p:cTn id="37" dur="1" fill="hold">
                                          <p:stCondLst>
                                            <p:cond delay="0"/>
                                          </p:stCondLst>
                                        </p:cTn>
                                        <p:tgtEl>
                                          <p:spTgt spid="28"/>
                                        </p:tgtEl>
                                        <p:attrNameLst>
                                          <p:attrName>style.visibility</p:attrName>
                                        </p:attrNameLst>
                                      </p:cBhvr>
                                      <p:to>
                                        <p:strVal val="visible"/>
                                      </p:to>
                                    </p:set>
                                    <p:animEffect transition="in" filter="fade">
                                      <p:cBhvr>
                                        <p:cTn id="38" dur="500"/>
                                        <p:tgtEl>
                                          <p:spTgt spid="28"/>
                                        </p:tgtEl>
                                      </p:cBhvr>
                                    </p:animEffect>
                                  </p:childTnLst>
                                </p:cTn>
                              </p:par>
                            </p:childTnLst>
                          </p:cTn>
                        </p:par>
                        <p:par>
                          <p:cTn id="39" fill="hold">
                            <p:stCondLst>
                              <p:cond delay="500"/>
                            </p:stCondLst>
                            <p:childTnLst>
                              <p:par>
                                <p:cTn id="40" presetID="22" presetClass="entr" presetSubtype="8" fill="hold" grpId="0" nodeType="afterEffect">
                                  <p:stCondLst>
                                    <p:cond delay="0"/>
                                  </p:stCondLst>
                                  <p:childTnLst>
                                    <p:set>
                                      <p:cBhvr>
                                        <p:cTn id="41" dur="1" fill="hold">
                                          <p:stCondLst>
                                            <p:cond delay="0"/>
                                          </p:stCondLst>
                                        </p:cTn>
                                        <p:tgtEl>
                                          <p:spTgt spid="11"/>
                                        </p:tgtEl>
                                        <p:attrNameLst>
                                          <p:attrName>style.visibility</p:attrName>
                                        </p:attrNameLst>
                                      </p:cBhvr>
                                      <p:to>
                                        <p:strVal val="visible"/>
                                      </p:to>
                                    </p:set>
                                    <p:animEffect transition="in" filter="wipe(left)">
                                      <p:cBhvr>
                                        <p:cTn id="42" dur="500"/>
                                        <p:tgtEl>
                                          <p:spTgt spid="11"/>
                                        </p:tgtEl>
                                      </p:cBhvr>
                                    </p:animEffect>
                                  </p:childTnLst>
                                </p:cTn>
                              </p:par>
                            </p:childTnLst>
                          </p:cTn>
                        </p:par>
                        <p:par>
                          <p:cTn id="43" fill="hold">
                            <p:stCondLst>
                              <p:cond delay="1000"/>
                            </p:stCondLst>
                            <p:childTnLst>
                              <p:par>
                                <p:cTn id="44" presetID="22" presetClass="entr" presetSubtype="8" fill="hold" grpId="0" nodeType="afterEffect">
                                  <p:stCondLst>
                                    <p:cond delay="0"/>
                                  </p:stCondLst>
                                  <p:childTnLst>
                                    <p:set>
                                      <p:cBhvr>
                                        <p:cTn id="45" dur="1" fill="hold">
                                          <p:stCondLst>
                                            <p:cond delay="0"/>
                                          </p:stCondLst>
                                        </p:cTn>
                                        <p:tgtEl>
                                          <p:spTgt spid="16"/>
                                        </p:tgtEl>
                                        <p:attrNameLst>
                                          <p:attrName>style.visibility</p:attrName>
                                        </p:attrNameLst>
                                      </p:cBhvr>
                                      <p:to>
                                        <p:strVal val="visible"/>
                                      </p:to>
                                    </p:set>
                                    <p:animEffect transition="in" filter="wipe(left)">
                                      <p:cBhvr>
                                        <p:cTn id="46" dur="500"/>
                                        <p:tgtEl>
                                          <p:spTgt spid="16"/>
                                        </p:tgtEl>
                                      </p:cBhvr>
                                    </p:animEffect>
                                  </p:childTnLst>
                                </p:cTn>
                              </p:par>
                            </p:childTnLst>
                          </p:cTn>
                        </p:par>
                        <p:par>
                          <p:cTn id="47" fill="hold">
                            <p:stCondLst>
                              <p:cond delay="1500"/>
                            </p:stCondLst>
                            <p:childTnLst>
                              <p:par>
                                <p:cTn id="48" presetID="22" presetClass="entr" presetSubtype="8" fill="hold" grpId="0" nodeType="afterEffect">
                                  <p:stCondLst>
                                    <p:cond delay="0"/>
                                  </p:stCondLst>
                                  <p:childTnLst>
                                    <p:set>
                                      <p:cBhvr>
                                        <p:cTn id="49" dur="1" fill="hold">
                                          <p:stCondLst>
                                            <p:cond delay="0"/>
                                          </p:stCondLst>
                                        </p:cTn>
                                        <p:tgtEl>
                                          <p:spTgt spid="21"/>
                                        </p:tgtEl>
                                        <p:attrNameLst>
                                          <p:attrName>style.visibility</p:attrName>
                                        </p:attrNameLst>
                                      </p:cBhvr>
                                      <p:to>
                                        <p:strVal val="visible"/>
                                      </p:to>
                                    </p:set>
                                    <p:animEffect transition="in" filter="wipe(left)">
                                      <p:cBhvr>
                                        <p:cTn id="50" dur="500"/>
                                        <p:tgtEl>
                                          <p:spTgt spid="21"/>
                                        </p:tgtEl>
                                      </p:cBhvr>
                                    </p:animEffect>
                                  </p:childTnLst>
                                </p:cTn>
                              </p:par>
                            </p:childTnLst>
                          </p:cTn>
                        </p:par>
                        <p:par>
                          <p:cTn id="51" fill="hold">
                            <p:stCondLst>
                              <p:cond delay="2000"/>
                            </p:stCondLst>
                            <p:childTnLst>
                              <p:par>
                                <p:cTn id="52" presetID="22" presetClass="entr" presetSubtype="8" fill="hold" grpId="0" nodeType="afterEffect">
                                  <p:stCondLst>
                                    <p:cond delay="0"/>
                                  </p:stCondLst>
                                  <p:childTnLst>
                                    <p:set>
                                      <p:cBhvr>
                                        <p:cTn id="53" dur="1" fill="hold">
                                          <p:stCondLst>
                                            <p:cond delay="0"/>
                                          </p:stCondLst>
                                        </p:cTn>
                                        <p:tgtEl>
                                          <p:spTgt spid="26"/>
                                        </p:tgtEl>
                                        <p:attrNameLst>
                                          <p:attrName>style.visibility</p:attrName>
                                        </p:attrNameLst>
                                      </p:cBhvr>
                                      <p:to>
                                        <p:strVal val="visible"/>
                                      </p:to>
                                    </p:set>
                                    <p:animEffect transition="in" filter="wipe(left)">
                                      <p:cBhvr>
                                        <p:cTn id="54" dur="500"/>
                                        <p:tgtEl>
                                          <p:spTgt spid="26"/>
                                        </p:tgtEl>
                                      </p:cBhvr>
                                    </p:animEffect>
                                  </p:childTnLst>
                                </p:cTn>
                              </p:par>
                            </p:childTnLst>
                          </p:cTn>
                        </p:par>
                      </p:childTnLst>
                    </p:cTn>
                  </p:par>
                  <p:par>
                    <p:cTn id="55" fill="hold">
                      <p:stCondLst>
                        <p:cond delay="indefinite"/>
                      </p:stCondLst>
                      <p:childTnLst>
                        <p:par>
                          <p:cTn id="56" fill="hold">
                            <p:stCondLst>
                              <p:cond delay="0"/>
                            </p:stCondLst>
                            <p:childTnLst>
                              <p:par>
                                <p:cTn id="57" presetID="42" presetClass="entr" presetSubtype="0" fill="hold" grpId="0" nodeType="clickEffect">
                                  <p:stCondLst>
                                    <p:cond delay="0"/>
                                  </p:stCondLst>
                                  <p:childTnLst>
                                    <p:set>
                                      <p:cBhvr>
                                        <p:cTn id="58" dur="1" fill="hold">
                                          <p:stCondLst>
                                            <p:cond delay="0"/>
                                          </p:stCondLst>
                                        </p:cTn>
                                        <p:tgtEl>
                                          <p:spTgt spid="9"/>
                                        </p:tgtEl>
                                        <p:attrNameLst>
                                          <p:attrName>style.visibility</p:attrName>
                                        </p:attrNameLst>
                                      </p:cBhvr>
                                      <p:to>
                                        <p:strVal val="visible"/>
                                      </p:to>
                                    </p:set>
                                    <p:animEffect transition="in" filter="fade">
                                      <p:cBhvr>
                                        <p:cTn id="59" dur="200"/>
                                        <p:tgtEl>
                                          <p:spTgt spid="9"/>
                                        </p:tgtEl>
                                      </p:cBhvr>
                                    </p:animEffect>
                                    <p:anim calcmode="lin" valueType="num">
                                      <p:cBhvr>
                                        <p:cTn id="60" dur="200" fill="hold"/>
                                        <p:tgtEl>
                                          <p:spTgt spid="9"/>
                                        </p:tgtEl>
                                        <p:attrNameLst>
                                          <p:attrName>ppt_x</p:attrName>
                                        </p:attrNameLst>
                                      </p:cBhvr>
                                      <p:tavLst>
                                        <p:tav tm="0">
                                          <p:val>
                                            <p:strVal val="#ppt_x"/>
                                          </p:val>
                                        </p:tav>
                                        <p:tav tm="100000">
                                          <p:val>
                                            <p:strVal val="#ppt_x"/>
                                          </p:val>
                                        </p:tav>
                                      </p:tavLst>
                                    </p:anim>
                                    <p:anim calcmode="lin" valueType="num">
                                      <p:cBhvr>
                                        <p:cTn id="61" dur="200" fill="hold"/>
                                        <p:tgtEl>
                                          <p:spTgt spid="9"/>
                                        </p:tgtEl>
                                        <p:attrNameLst>
                                          <p:attrName>ppt_y</p:attrName>
                                        </p:attrNameLst>
                                      </p:cBhvr>
                                      <p:tavLst>
                                        <p:tav tm="0">
                                          <p:val>
                                            <p:strVal val="#ppt_y+.1"/>
                                          </p:val>
                                        </p:tav>
                                        <p:tav tm="100000">
                                          <p:val>
                                            <p:strVal val="#ppt_y"/>
                                          </p:val>
                                        </p:tav>
                                      </p:tavLst>
                                    </p:anim>
                                  </p:childTnLst>
                                </p:cTn>
                              </p:par>
                              <p:par>
                                <p:cTn id="62" presetID="42" presetClass="entr" presetSubtype="0" fill="hold" grpId="0" nodeType="withEffect">
                                  <p:stCondLst>
                                    <p:cond delay="0"/>
                                  </p:stCondLst>
                                  <p:childTnLst>
                                    <p:set>
                                      <p:cBhvr>
                                        <p:cTn id="63" dur="1" fill="hold">
                                          <p:stCondLst>
                                            <p:cond delay="0"/>
                                          </p:stCondLst>
                                        </p:cTn>
                                        <p:tgtEl>
                                          <p:spTgt spid="10"/>
                                        </p:tgtEl>
                                        <p:attrNameLst>
                                          <p:attrName>style.visibility</p:attrName>
                                        </p:attrNameLst>
                                      </p:cBhvr>
                                      <p:to>
                                        <p:strVal val="visible"/>
                                      </p:to>
                                    </p:set>
                                    <p:animEffect transition="in" filter="fade">
                                      <p:cBhvr>
                                        <p:cTn id="64" dur="200"/>
                                        <p:tgtEl>
                                          <p:spTgt spid="10"/>
                                        </p:tgtEl>
                                      </p:cBhvr>
                                    </p:animEffect>
                                    <p:anim calcmode="lin" valueType="num">
                                      <p:cBhvr>
                                        <p:cTn id="65" dur="200" fill="hold"/>
                                        <p:tgtEl>
                                          <p:spTgt spid="10"/>
                                        </p:tgtEl>
                                        <p:attrNameLst>
                                          <p:attrName>ppt_x</p:attrName>
                                        </p:attrNameLst>
                                      </p:cBhvr>
                                      <p:tavLst>
                                        <p:tav tm="0">
                                          <p:val>
                                            <p:strVal val="#ppt_x"/>
                                          </p:val>
                                        </p:tav>
                                        <p:tav tm="100000">
                                          <p:val>
                                            <p:strVal val="#ppt_x"/>
                                          </p:val>
                                        </p:tav>
                                      </p:tavLst>
                                    </p:anim>
                                    <p:anim calcmode="lin" valueType="num">
                                      <p:cBhvr>
                                        <p:cTn id="66" dur="200" fill="hold"/>
                                        <p:tgtEl>
                                          <p:spTgt spid="10"/>
                                        </p:tgtEl>
                                        <p:attrNameLst>
                                          <p:attrName>ppt_y</p:attrName>
                                        </p:attrNameLst>
                                      </p:cBhvr>
                                      <p:tavLst>
                                        <p:tav tm="0">
                                          <p:val>
                                            <p:strVal val="#ppt_y+.1"/>
                                          </p:val>
                                        </p:tav>
                                        <p:tav tm="100000">
                                          <p:val>
                                            <p:strVal val="#ppt_y"/>
                                          </p:val>
                                        </p:tav>
                                      </p:tavLst>
                                    </p:anim>
                                  </p:childTnLst>
                                </p:cTn>
                              </p:par>
                            </p:childTnLst>
                          </p:cTn>
                        </p:par>
                      </p:childTnLst>
                    </p:cTn>
                  </p:par>
                  <p:par>
                    <p:cTn id="67" fill="hold">
                      <p:stCondLst>
                        <p:cond delay="indefinite"/>
                      </p:stCondLst>
                      <p:childTnLst>
                        <p:par>
                          <p:cTn id="68" fill="hold">
                            <p:stCondLst>
                              <p:cond delay="0"/>
                            </p:stCondLst>
                            <p:childTnLst>
                              <p:par>
                                <p:cTn id="69" presetID="42" presetClass="entr" presetSubtype="0" fill="hold" grpId="0" nodeType="clickEffect">
                                  <p:stCondLst>
                                    <p:cond delay="0"/>
                                  </p:stCondLst>
                                  <p:childTnLst>
                                    <p:set>
                                      <p:cBhvr>
                                        <p:cTn id="70" dur="1" fill="hold">
                                          <p:stCondLst>
                                            <p:cond delay="0"/>
                                          </p:stCondLst>
                                        </p:cTn>
                                        <p:tgtEl>
                                          <p:spTgt spid="14"/>
                                        </p:tgtEl>
                                        <p:attrNameLst>
                                          <p:attrName>style.visibility</p:attrName>
                                        </p:attrNameLst>
                                      </p:cBhvr>
                                      <p:to>
                                        <p:strVal val="visible"/>
                                      </p:to>
                                    </p:set>
                                    <p:animEffect transition="in" filter="fade">
                                      <p:cBhvr>
                                        <p:cTn id="71" dur="200"/>
                                        <p:tgtEl>
                                          <p:spTgt spid="14"/>
                                        </p:tgtEl>
                                      </p:cBhvr>
                                    </p:animEffect>
                                    <p:anim calcmode="lin" valueType="num">
                                      <p:cBhvr>
                                        <p:cTn id="72" dur="200" fill="hold"/>
                                        <p:tgtEl>
                                          <p:spTgt spid="14"/>
                                        </p:tgtEl>
                                        <p:attrNameLst>
                                          <p:attrName>ppt_x</p:attrName>
                                        </p:attrNameLst>
                                      </p:cBhvr>
                                      <p:tavLst>
                                        <p:tav tm="0">
                                          <p:val>
                                            <p:strVal val="#ppt_x"/>
                                          </p:val>
                                        </p:tav>
                                        <p:tav tm="100000">
                                          <p:val>
                                            <p:strVal val="#ppt_x"/>
                                          </p:val>
                                        </p:tav>
                                      </p:tavLst>
                                    </p:anim>
                                    <p:anim calcmode="lin" valueType="num">
                                      <p:cBhvr>
                                        <p:cTn id="73" dur="200" fill="hold"/>
                                        <p:tgtEl>
                                          <p:spTgt spid="14"/>
                                        </p:tgtEl>
                                        <p:attrNameLst>
                                          <p:attrName>ppt_y</p:attrName>
                                        </p:attrNameLst>
                                      </p:cBhvr>
                                      <p:tavLst>
                                        <p:tav tm="0">
                                          <p:val>
                                            <p:strVal val="#ppt_y+.1"/>
                                          </p:val>
                                        </p:tav>
                                        <p:tav tm="100000">
                                          <p:val>
                                            <p:strVal val="#ppt_y"/>
                                          </p:val>
                                        </p:tav>
                                      </p:tavLst>
                                    </p:anim>
                                  </p:childTnLst>
                                </p:cTn>
                              </p:par>
                              <p:par>
                                <p:cTn id="74" presetID="42" presetClass="entr" presetSubtype="0" fill="hold" grpId="0" nodeType="withEffect">
                                  <p:stCondLst>
                                    <p:cond delay="0"/>
                                  </p:stCondLst>
                                  <p:childTnLst>
                                    <p:set>
                                      <p:cBhvr>
                                        <p:cTn id="75" dur="1" fill="hold">
                                          <p:stCondLst>
                                            <p:cond delay="0"/>
                                          </p:stCondLst>
                                        </p:cTn>
                                        <p:tgtEl>
                                          <p:spTgt spid="15"/>
                                        </p:tgtEl>
                                        <p:attrNameLst>
                                          <p:attrName>style.visibility</p:attrName>
                                        </p:attrNameLst>
                                      </p:cBhvr>
                                      <p:to>
                                        <p:strVal val="visible"/>
                                      </p:to>
                                    </p:set>
                                    <p:animEffect transition="in" filter="fade">
                                      <p:cBhvr>
                                        <p:cTn id="76" dur="200"/>
                                        <p:tgtEl>
                                          <p:spTgt spid="15"/>
                                        </p:tgtEl>
                                      </p:cBhvr>
                                    </p:animEffect>
                                    <p:anim calcmode="lin" valueType="num">
                                      <p:cBhvr>
                                        <p:cTn id="77" dur="200" fill="hold"/>
                                        <p:tgtEl>
                                          <p:spTgt spid="15"/>
                                        </p:tgtEl>
                                        <p:attrNameLst>
                                          <p:attrName>ppt_x</p:attrName>
                                        </p:attrNameLst>
                                      </p:cBhvr>
                                      <p:tavLst>
                                        <p:tav tm="0">
                                          <p:val>
                                            <p:strVal val="#ppt_x"/>
                                          </p:val>
                                        </p:tav>
                                        <p:tav tm="100000">
                                          <p:val>
                                            <p:strVal val="#ppt_x"/>
                                          </p:val>
                                        </p:tav>
                                      </p:tavLst>
                                    </p:anim>
                                    <p:anim calcmode="lin" valueType="num">
                                      <p:cBhvr>
                                        <p:cTn id="78" dur="200" fill="hold"/>
                                        <p:tgtEl>
                                          <p:spTgt spid="15"/>
                                        </p:tgtEl>
                                        <p:attrNameLst>
                                          <p:attrName>ppt_y</p:attrName>
                                        </p:attrNameLst>
                                      </p:cBhvr>
                                      <p:tavLst>
                                        <p:tav tm="0">
                                          <p:val>
                                            <p:strVal val="#ppt_y+.1"/>
                                          </p:val>
                                        </p:tav>
                                        <p:tav tm="100000">
                                          <p:val>
                                            <p:strVal val="#ppt_y"/>
                                          </p:val>
                                        </p:tav>
                                      </p:tavLst>
                                    </p:anim>
                                  </p:childTnLst>
                                </p:cTn>
                              </p:par>
                            </p:childTnLst>
                          </p:cTn>
                        </p:par>
                      </p:childTnLst>
                    </p:cTn>
                  </p:par>
                  <p:par>
                    <p:cTn id="79" fill="hold">
                      <p:stCondLst>
                        <p:cond delay="indefinite"/>
                      </p:stCondLst>
                      <p:childTnLst>
                        <p:par>
                          <p:cTn id="80" fill="hold">
                            <p:stCondLst>
                              <p:cond delay="0"/>
                            </p:stCondLst>
                            <p:childTnLst>
                              <p:par>
                                <p:cTn id="81" presetID="42" presetClass="entr" presetSubtype="0" fill="hold" grpId="0" nodeType="clickEffect">
                                  <p:stCondLst>
                                    <p:cond delay="0"/>
                                  </p:stCondLst>
                                  <p:childTnLst>
                                    <p:set>
                                      <p:cBhvr>
                                        <p:cTn id="82" dur="1" fill="hold">
                                          <p:stCondLst>
                                            <p:cond delay="0"/>
                                          </p:stCondLst>
                                        </p:cTn>
                                        <p:tgtEl>
                                          <p:spTgt spid="19"/>
                                        </p:tgtEl>
                                        <p:attrNameLst>
                                          <p:attrName>style.visibility</p:attrName>
                                        </p:attrNameLst>
                                      </p:cBhvr>
                                      <p:to>
                                        <p:strVal val="visible"/>
                                      </p:to>
                                    </p:set>
                                    <p:animEffect transition="in" filter="fade">
                                      <p:cBhvr>
                                        <p:cTn id="83" dur="200"/>
                                        <p:tgtEl>
                                          <p:spTgt spid="19"/>
                                        </p:tgtEl>
                                      </p:cBhvr>
                                    </p:animEffect>
                                    <p:anim calcmode="lin" valueType="num">
                                      <p:cBhvr>
                                        <p:cTn id="84" dur="200" fill="hold"/>
                                        <p:tgtEl>
                                          <p:spTgt spid="19"/>
                                        </p:tgtEl>
                                        <p:attrNameLst>
                                          <p:attrName>ppt_x</p:attrName>
                                        </p:attrNameLst>
                                      </p:cBhvr>
                                      <p:tavLst>
                                        <p:tav tm="0">
                                          <p:val>
                                            <p:strVal val="#ppt_x"/>
                                          </p:val>
                                        </p:tav>
                                        <p:tav tm="100000">
                                          <p:val>
                                            <p:strVal val="#ppt_x"/>
                                          </p:val>
                                        </p:tav>
                                      </p:tavLst>
                                    </p:anim>
                                    <p:anim calcmode="lin" valueType="num">
                                      <p:cBhvr>
                                        <p:cTn id="85" dur="200" fill="hold"/>
                                        <p:tgtEl>
                                          <p:spTgt spid="19"/>
                                        </p:tgtEl>
                                        <p:attrNameLst>
                                          <p:attrName>ppt_y</p:attrName>
                                        </p:attrNameLst>
                                      </p:cBhvr>
                                      <p:tavLst>
                                        <p:tav tm="0">
                                          <p:val>
                                            <p:strVal val="#ppt_y+.1"/>
                                          </p:val>
                                        </p:tav>
                                        <p:tav tm="100000">
                                          <p:val>
                                            <p:strVal val="#ppt_y"/>
                                          </p:val>
                                        </p:tav>
                                      </p:tavLst>
                                    </p:anim>
                                  </p:childTnLst>
                                </p:cTn>
                              </p:par>
                              <p:par>
                                <p:cTn id="86" presetID="42" presetClass="entr" presetSubtype="0" fill="hold" grpId="0" nodeType="withEffect">
                                  <p:stCondLst>
                                    <p:cond delay="0"/>
                                  </p:stCondLst>
                                  <p:childTnLst>
                                    <p:set>
                                      <p:cBhvr>
                                        <p:cTn id="87" dur="1" fill="hold">
                                          <p:stCondLst>
                                            <p:cond delay="0"/>
                                          </p:stCondLst>
                                        </p:cTn>
                                        <p:tgtEl>
                                          <p:spTgt spid="20"/>
                                        </p:tgtEl>
                                        <p:attrNameLst>
                                          <p:attrName>style.visibility</p:attrName>
                                        </p:attrNameLst>
                                      </p:cBhvr>
                                      <p:to>
                                        <p:strVal val="visible"/>
                                      </p:to>
                                    </p:set>
                                    <p:animEffect transition="in" filter="fade">
                                      <p:cBhvr>
                                        <p:cTn id="88" dur="200"/>
                                        <p:tgtEl>
                                          <p:spTgt spid="20"/>
                                        </p:tgtEl>
                                      </p:cBhvr>
                                    </p:animEffect>
                                    <p:anim calcmode="lin" valueType="num">
                                      <p:cBhvr>
                                        <p:cTn id="89" dur="200" fill="hold"/>
                                        <p:tgtEl>
                                          <p:spTgt spid="20"/>
                                        </p:tgtEl>
                                        <p:attrNameLst>
                                          <p:attrName>ppt_x</p:attrName>
                                        </p:attrNameLst>
                                      </p:cBhvr>
                                      <p:tavLst>
                                        <p:tav tm="0">
                                          <p:val>
                                            <p:strVal val="#ppt_x"/>
                                          </p:val>
                                        </p:tav>
                                        <p:tav tm="100000">
                                          <p:val>
                                            <p:strVal val="#ppt_x"/>
                                          </p:val>
                                        </p:tav>
                                      </p:tavLst>
                                    </p:anim>
                                    <p:anim calcmode="lin" valueType="num">
                                      <p:cBhvr>
                                        <p:cTn id="90" dur="200" fill="hold"/>
                                        <p:tgtEl>
                                          <p:spTgt spid="20"/>
                                        </p:tgtEl>
                                        <p:attrNameLst>
                                          <p:attrName>ppt_y</p:attrName>
                                        </p:attrNameLst>
                                      </p:cBhvr>
                                      <p:tavLst>
                                        <p:tav tm="0">
                                          <p:val>
                                            <p:strVal val="#ppt_y+.1"/>
                                          </p:val>
                                        </p:tav>
                                        <p:tav tm="100000">
                                          <p:val>
                                            <p:strVal val="#ppt_y"/>
                                          </p:val>
                                        </p:tav>
                                      </p:tavLst>
                                    </p:anim>
                                  </p:childTnLst>
                                </p:cTn>
                              </p:par>
                            </p:childTnLst>
                          </p:cTn>
                        </p:par>
                      </p:childTnLst>
                    </p:cTn>
                  </p:par>
                  <p:par>
                    <p:cTn id="91" fill="hold">
                      <p:stCondLst>
                        <p:cond delay="indefinite"/>
                      </p:stCondLst>
                      <p:childTnLst>
                        <p:par>
                          <p:cTn id="92" fill="hold">
                            <p:stCondLst>
                              <p:cond delay="0"/>
                            </p:stCondLst>
                            <p:childTnLst>
                              <p:par>
                                <p:cTn id="93" presetID="42" presetClass="entr" presetSubtype="0" fill="hold" grpId="0" nodeType="clickEffect">
                                  <p:stCondLst>
                                    <p:cond delay="0"/>
                                  </p:stCondLst>
                                  <p:childTnLst>
                                    <p:set>
                                      <p:cBhvr>
                                        <p:cTn id="94" dur="1" fill="hold">
                                          <p:stCondLst>
                                            <p:cond delay="0"/>
                                          </p:stCondLst>
                                        </p:cTn>
                                        <p:tgtEl>
                                          <p:spTgt spid="24"/>
                                        </p:tgtEl>
                                        <p:attrNameLst>
                                          <p:attrName>style.visibility</p:attrName>
                                        </p:attrNameLst>
                                      </p:cBhvr>
                                      <p:to>
                                        <p:strVal val="visible"/>
                                      </p:to>
                                    </p:set>
                                    <p:animEffect transition="in" filter="fade">
                                      <p:cBhvr>
                                        <p:cTn id="95" dur="200"/>
                                        <p:tgtEl>
                                          <p:spTgt spid="24"/>
                                        </p:tgtEl>
                                      </p:cBhvr>
                                    </p:animEffect>
                                    <p:anim calcmode="lin" valueType="num">
                                      <p:cBhvr>
                                        <p:cTn id="96" dur="200" fill="hold"/>
                                        <p:tgtEl>
                                          <p:spTgt spid="24"/>
                                        </p:tgtEl>
                                        <p:attrNameLst>
                                          <p:attrName>ppt_x</p:attrName>
                                        </p:attrNameLst>
                                      </p:cBhvr>
                                      <p:tavLst>
                                        <p:tav tm="0">
                                          <p:val>
                                            <p:strVal val="#ppt_x"/>
                                          </p:val>
                                        </p:tav>
                                        <p:tav tm="100000">
                                          <p:val>
                                            <p:strVal val="#ppt_x"/>
                                          </p:val>
                                        </p:tav>
                                      </p:tavLst>
                                    </p:anim>
                                    <p:anim calcmode="lin" valueType="num">
                                      <p:cBhvr>
                                        <p:cTn id="97" dur="200" fill="hold"/>
                                        <p:tgtEl>
                                          <p:spTgt spid="24"/>
                                        </p:tgtEl>
                                        <p:attrNameLst>
                                          <p:attrName>ppt_y</p:attrName>
                                        </p:attrNameLst>
                                      </p:cBhvr>
                                      <p:tavLst>
                                        <p:tav tm="0">
                                          <p:val>
                                            <p:strVal val="#ppt_y+.1"/>
                                          </p:val>
                                        </p:tav>
                                        <p:tav tm="100000">
                                          <p:val>
                                            <p:strVal val="#ppt_y"/>
                                          </p:val>
                                        </p:tav>
                                      </p:tavLst>
                                    </p:anim>
                                  </p:childTnLst>
                                </p:cTn>
                              </p:par>
                              <p:par>
                                <p:cTn id="98" presetID="42" presetClass="entr" presetSubtype="0" fill="hold" grpId="0" nodeType="withEffect">
                                  <p:stCondLst>
                                    <p:cond delay="0"/>
                                  </p:stCondLst>
                                  <p:childTnLst>
                                    <p:set>
                                      <p:cBhvr>
                                        <p:cTn id="99" dur="1" fill="hold">
                                          <p:stCondLst>
                                            <p:cond delay="0"/>
                                          </p:stCondLst>
                                        </p:cTn>
                                        <p:tgtEl>
                                          <p:spTgt spid="25"/>
                                        </p:tgtEl>
                                        <p:attrNameLst>
                                          <p:attrName>style.visibility</p:attrName>
                                        </p:attrNameLst>
                                      </p:cBhvr>
                                      <p:to>
                                        <p:strVal val="visible"/>
                                      </p:to>
                                    </p:set>
                                    <p:animEffect transition="in" filter="fade">
                                      <p:cBhvr>
                                        <p:cTn id="100" dur="200"/>
                                        <p:tgtEl>
                                          <p:spTgt spid="25"/>
                                        </p:tgtEl>
                                      </p:cBhvr>
                                    </p:animEffect>
                                    <p:anim calcmode="lin" valueType="num">
                                      <p:cBhvr>
                                        <p:cTn id="101" dur="200" fill="hold"/>
                                        <p:tgtEl>
                                          <p:spTgt spid="25"/>
                                        </p:tgtEl>
                                        <p:attrNameLst>
                                          <p:attrName>ppt_x</p:attrName>
                                        </p:attrNameLst>
                                      </p:cBhvr>
                                      <p:tavLst>
                                        <p:tav tm="0">
                                          <p:val>
                                            <p:strVal val="#ppt_x"/>
                                          </p:val>
                                        </p:tav>
                                        <p:tav tm="100000">
                                          <p:val>
                                            <p:strVal val="#ppt_x"/>
                                          </p:val>
                                        </p:tav>
                                      </p:tavLst>
                                    </p:anim>
                                    <p:anim calcmode="lin" valueType="num">
                                      <p:cBhvr>
                                        <p:cTn id="102" dur="200" fill="hold"/>
                                        <p:tgtEl>
                                          <p:spTgt spid="25"/>
                                        </p:tgtEl>
                                        <p:attrNameLst>
                                          <p:attrName>ppt_y</p:attrName>
                                        </p:attrNameLst>
                                      </p:cBhvr>
                                      <p:tavLst>
                                        <p:tav tm="0">
                                          <p:val>
                                            <p:strVal val="#ppt_y+.1"/>
                                          </p:val>
                                        </p:tav>
                                        <p:tav tm="100000">
                                          <p:val>
                                            <p:strVal val="#ppt_y"/>
                                          </p:val>
                                        </p:tav>
                                      </p:tavLst>
                                    </p:anim>
                                  </p:childTnLst>
                                </p:cTn>
                              </p:par>
                            </p:childTnLst>
                          </p:cTn>
                        </p:par>
                      </p:childTnLst>
                    </p:cTn>
                  </p:par>
                  <p:par>
                    <p:cTn id="103" fill="hold">
                      <p:stCondLst>
                        <p:cond delay="indefinite"/>
                      </p:stCondLst>
                      <p:childTnLst>
                        <p:par>
                          <p:cTn id="104" fill="hold">
                            <p:stCondLst>
                              <p:cond delay="0"/>
                            </p:stCondLst>
                            <p:childTnLst>
                              <p:par>
                                <p:cTn id="105" presetID="42" presetClass="entr" presetSubtype="0" fill="hold" grpId="0" nodeType="clickEffect">
                                  <p:stCondLst>
                                    <p:cond delay="0"/>
                                  </p:stCondLst>
                                  <p:childTnLst>
                                    <p:set>
                                      <p:cBhvr>
                                        <p:cTn id="106" dur="1" fill="hold">
                                          <p:stCondLst>
                                            <p:cond delay="0"/>
                                          </p:stCondLst>
                                        </p:cTn>
                                        <p:tgtEl>
                                          <p:spTgt spid="29"/>
                                        </p:tgtEl>
                                        <p:attrNameLst>
                                          <p:attrName>style.visibility</p:attrName>
                                        </p:attrNameLst>
                                      </p:cBhvr>
                                      <p:to>
                                        <p:strVal val="visible"/>
                                      </p:to>
                                    </p:set>
                                    <p:animEffect transition="in" filter="fade">
                                      <p:cBhvr>
                                        <p:cTn id="107" dur="200"/>
                                        <p:tgtEl>
                                          <p:spTgt spid="29"/>
                                        </p:tgtEl>
                                      </p:cBhvr>
                                    </p:animEffect>
                                    <p:anim calcmode="lin" valueType="num">
                                      <p:cBhvr>
                                        <p:cTn id="108" dur="200" fill="hold"/>
                                        <p:tgtEl>
                                          <p:spTgt spid="29"/>
                                        </p:tgtEl>
                                        <p:attrNameLst>
                                          <p:attrName>ppt_x</p:attrName>
                                        </p:attrNameLst>
                                      </p:cBhvr>
                                      <p:tavLst>
                                        <p:tav tm="0">
                                          <p:val>
                                            <p:strVal val="#ppt_x"/>
                                          </p:val>
                                        </p:tav>
                                        <p:tav tm="100000">
                                          <p:val>
                                            <p:strVal val="#ppt_x"/>
                                          </p:val>
                                        </p:tav>
                                      </p:tavLst>
                                    </p:anim>
                                    <p:anim calcmode="lin" valueType="num">
                                      <p:cBhvr>
                                        <p:cTn id="109" dur="200" fill="hold"/>
                                        <p:tgtEl>
                                          <p:spTgt spid="29"/>
                                        </p:tgtEl>
                                        <p:attrNameLst>
                                          <p:attrName>ppt_y</p:attrName>
                                        </p:attrNameLst>
                                      </p:cBhvr>
                                      <p:tavLst>
                                        <p:tav tm="0">
                                          <p:val>
                                            <p:strVal val="#ppt_y+.1"/>
                                          </p:val>
                                        </p:tav>
                                        <p:tav tm="100000">
                                          <p:val>
                                            <p:strVal val="#ppt_y"/>
                                          </p:val>
                                        </p:tav>
                                      </p:tavLst>
                                    </p:anim>
                                  </p:childTnLst>
                                </p:cTn>
                              </p:par>
                              <p:par>
                                <p:cTn id="110" presetID="42" presetClass="entr" presetSubtype="0" fill="hold" grpId="0" nodeType="withEffect">
                                  <p:stCondLst>
                                    <p:cond delay="0"/>
                                  </p:stCondLst>
                                  <p:childTnLst>
                                    <p:set>
                                      <p:cBhvr>
                                        <p:cTn id="111" dur="1" fill="hold">
                                          <p:stCondLst>
                                            <p:cond delay="0"/>
                                          </p:stCondLst>
                                        </p:cTn>
                                        <p:tgtEl>
                                          <p:spTgt spid="30"/>
                                        </p:tgtEl>
                                        <p:attrNameLst>
                                          <p:attrName>style.visibility</p:attrName>
                                        </p:attrNameLst>
                                      </p:cBhvr>
                                      <p:to>
                                        <p:strVal val="visible"/>
                                      </p:to>
                                    </p:set>
                                    <p:animEffect transition="in" filter="fade">
                                      <p:cBhvr>
                                        <p:cTn id="112" dur="200"/>
                                        <p:tgtEl>
                                          <p:spTgt spid="30"/>
                                        </p:tgtEl>
                                      </p:cBhvr>
                                    </p:animEffect>
                                    <p:anim calcmode="lin" valueType="num">
                                      <p:cBhvr>
                                        <p:cTn id="113" dur="200" fill="hold"/>
                                        <p:tgtEl>
                                          <p:spTgt spid="30"/>
                                        </p:tgtEl>
                                        <p:attrNameLst>
                                          <p:attrName>ppt_x</p:attrName>
                                        </p:attrNameLst>
                                      </p:cBhvr>
                                      <p:tavLst>
                                        <p:tav tm="0">
                                          <p:val>
                                            <p:strVal val="#ppt_x"/>
                                          </p:val>
                                        </p:tav>
                                        <p:tav tm="100000">
                                          <p:val>
                                            <p:strVal val="#ppt_x"/>
                                          </p:val>
                                        </p:tav>
                                      </p:tavLst>
                                    </p:anim>
                                    <p:anim calcmode="lin" valueType="num">
                                      <p:cBhvr>
                                        <p:cTn id="114" dur="200" fill="hold"/>
                                        <p:tgtEl>
                                          <p:spTgt spid="30"/>
                                        </p:tgtEl>
                                        <p:attrNameLst>
                                          <p:attrName>ppt_y</p:attrName>
                                        </p:attrNameLst>
                                      </p:cBhvr>
                                      <p:tavLst>
                                        <p:tav tm="0">
                                          <p:val>
                                            <p:strVal val="#ppt_y+.1"/>
                                          </p:val>
                                        </p:tav>
                                        <p:tav tm="100000">
                                          <p:val>
                                            <p:strVal val="#ppt_y"/>
                                          </p:val>
                                        </p:tav>
                                      </p:tavLst>
                                    </p:anim>
                                  </p:childTnLst>
                                </p:cTn>
                              </p:par>
                            </p:childTnLst>
                          </p:cTn>
                        </p:par>
                      </p:childTnLst>
                    </p:cTn>
                  </p:par>
                  <p:par>
                    <p:cTn id="115" fill="hold">
                      <p:stCondLst>
                        <p:cond delay="indefinite"/>
                      </p:stCondLst>
                      <p:childTnLst>
                        <p:par>
                          <p:cTn id="116" fill="hold">
                            <p:stCondLst>
                              <p:cond delay="0"/>
                            </p:stCondLst>
                            <p:childTnLst>
                              <p:par>
                                <p:cTn id="117" presetID="10" presetClass="entr" presetSubtype="0" fill="hold" grpId="0" nodeType="clickEffect">
                                  <p:stCondLst>
                                    <p:cond delay="0"/>
                                  </p:stCondLst>
                                  <p:childTnLst>
                                    <p:set>
                                      <p:cBhvr>
                                        <p:cTn id="118" dur="1" fill="hold">
                                          <p:stCondLst>
                                            <p:cond delay="0"/>
                                          </p:stCondLst>
                                        </p:cTn>
                                        <p:tgtEl>
                                          <p:spTgt spid="5"/>
                                        </p:tgtEl>
                                        <p:attrNameLst>
                                          <p:attrName>style.visibility</p:attrName>
                                        </p:attrNameLst>
                                      </p:cBhvr>
                                      <p:to>
                                        <p:strVal val="visible"/>
                                      </p:to>
                                    </p:set>
                                    <p:animEffect transition="in" filter="fade">
                                      <p:cBhvr>
                                        <p:cTn id="119" dur="500"/>
                                        <p:tgtEl>
                                          <p:spTgt spid="5"/>
                                        </p:tgtEl>
                                      </p:cBhvr>
                                    </p:animEffect>
                                  </p:childTnLst>
                                </p:cTn>
                              </p:par>
                            </p:childTnLst>
                          </p:cTn>
                        </p:par>
                      </p:childTnLst>
                    </p:cTn>
                  </p:par>
                  <p:par>
                    <p:cTn id="120" fill="hold">
                      <p:stCondLst>
                        <p:cond delay="indefinite"/>
                      </p:stCondLst>
                      <p:childTnLst>
                        <p:par>
                          <p:cTn id="121" fill="hold">
                            <p:stCondLst>
                              <p:cond delay="0"/>
                            </p:stCondLst>
                            <p:childTnLst>
                              <p:par>
                                <p:cTn id="122" presetID="1" presetClass="entr" presetSubtype="0" fill="hold" grpId="0" nodeType="clickEffect">
                                  <p:stCondLst>
                                    <p:cond delay="0"/>
                                  </p:stCondLst>
                                  <p:childTnLst>
                                    <p:set>
                                      <p:cBhvr>
                                        <p:cTn id="123" dur="1" fill="hold">
                                          <p:stCondLst>
                                            <p:cond delay="0"/>
                                          </p:stCondLst>
                                        </p:cTn>
                                        <p:tgtEl>
                                          <p:spTgt spid="32"/>
                                        </p:tgtEl>
                                        <p:attrNameLst>
                                          <p:attrName>style.visibility</p:attrName>
                                        </p:attrNameLst>
                                      </p:cBhvr>
                                      <p:to>
                                        <p:strVal val="visible"/>
                                      </p:to>
                                    </p:set>
                                  </p:childTnLst>
                                </p:cTn>
                              </p:par>
                              <p:par>
                                <p:cTn id="124" presetID="1" presetClass="entr" presetSubtype="0" fill="hold" grpId="0" nodeType="withEffect">
                                  <p:stCondLst>
                                    <p:cond delay="0"/>
                                  </p:stCondLst>
                                  <p:childTnLst>
                                    <p:set>
                                      <p:cBhvr>
                                        <p:cTn id="125" dur="1" fill="hold">
                                          <p:stCondLst>
                                            <p:cond delay="0"/>
                                          </p:stCondLst>
                                        </p:cTn>
                                        <p:tgtEl>
                                          <p:spTgt spid="3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5" grpId="0" animBg="1"/>
      <p:bldP spid="7" grpId="0" animBg="1"/>
      <p:bldP spid="9" grpId="0" animBg="1"/>
      <p:bldP spid="10" grpId="0" animBg="1"/>
      <p:bldP spid="11" grpId="0" animBg="1"/>
      <p:bldP spid="12" grpId="0" animBg="1"/>
      <p:bldP spid="14" grpId="0" animBg="1"/>
      <p:bldP spid="15" grpId="0" animBg="1"/>
      <p:bldP spid="16" grpId="0" animBg="1"/>
      <p:bldP spid="17" grpId="0" animBg="1"/>
      <p:bldP spid="19" grpId="0" animBg="1"/>
      <p:bldP spid="20" grpId="0" animBg="1"/>
      <p:bldP spid="21" grpId="0" animBg="1"/>
      <p:bldP spid="22" grpId="0" animBg="1"/>
      <p:bldP spid="24" grpId="0" animBg="1"/>
      <p:bldP spid="25" grpId="0" animBg="1"/>
      <p:bldP spid="26" grpId="0" animBg="1"/>
      <p:bldP spid="27" grpId="0" animBg="1"/>
      <p:bldP spid="29" grpId="0" animBg="1"/>
      <p:bldP spid="30" grpId="0" animBg="1"/>
      <p:bldP spid="31" grpId="0" animBg="1"/>
      <p:bldP spid="32"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11480"/>
            <a:ext cx="8778240" cy="822960"/>
          </a:xfrm>
          <a:prstGeom prst="rect">
            <a:avLst/>
          </a:prstGeom>
          <a:noFill/>
          <a:ln/>
        </p:spPr>
        <p:txBody>
          <a:bodyPr wrap="square" rtlCol="0" anchor="ctr"/>
          <a:lstStyle/>
          <a:p>
            <a:pPr marL="0" indent="0" algn="l">
              <a:buNone/>
            </a:pPr>
            <a:r>
              <a:rPr lang="en-US" dirty="0" err="1">
                <a:latin typeface="Lucida Sans" panose="020B0602030504020204" pitchFamily="34" charset="0"/>
              </a:rPr>
              <a:t>Résultats</a:t>
            </a:r>
            <a:endParaRPr lang="en-US" sz="3400" dirty="0">
              <a:latin typeface="Lucida Sans" panose="020B0602030504020204" pitchFamily="34" charset="0"/>
            </a:endParaRPr>
          </a:p>
        </p:txBody>
      </p:sp>
      <p:sp>
        <p:nvSpPr>
          <p:cNvPr id="3" name="pastille-partie"/>
          <p:cNvSpPr/>
          <p:nvPr/>
        </p:nvSpPr>
        <p:spPr>
          <a:xfrm>
            <a:off x="9601200" y="566928"/>
            <a:ext cx="2103120" cy="457200"/>
          </a:xfrm>
          <a:prstGeom prst="roundRect">
            <a:avLst>
              <a:gd name="adj" fmla="val 50000"/>
            </a:avLst>
          </a:prstGeom>
          <a:solidFill>
            <a:schemeClr val="bg2"/>
          </a:solidFill>
          <a:ln w="12700">
            <a:noFill/>
            <a:prstDash val="solid"/>
          </a:ln>
        </p:spPr>
        <p:txBody>
          <a:bodyPr/>
          <a:lstStyle/>
          <a:p>
            <a:endParaRPr lang="fr-FR"/>
          </a:p>
        </p:txBody>
      </p:sp>
      <p:sp>
        <p:nvSpPr>
          <p:cNvPr id="4" name="texte-pastille-partie"/>
          <p:cNvSpPr txBox="1"/>
          <p:nvPr/>
        </p:nvSpPr>
        <p:spPr>
          <a:xfrm>
            <a:off x="9540240" y="548640"/>
            <a:ext cx="2103120" cy="457200"/>
          </a:xfrm>
          <a:prstGeom prst="rect">
            <a:avLst/>
          </a:prstGeom>
          <a:noFill/>
          <a:ln/>
        </p:spPr>
        <p:txBody>
          <a:bodyPr wrap="square" lIns="0" tIns="0" rIns="0" bIns="0" rtlCol="0" anchor="ctr"/>
          <a:lstStyle/>
          <a:p>
            <a:pPr marL="0" indent="0" algn="ctr">
              <a:buNone/>
            </a:pPr>
            <a:r>
              <a:rPr lang="en-US" sz="1300" b="1" dirty="0">
                <a:latin typeface="Lucida Sans" panose="020B0602030504020204" pitchFamily="34" charset="0"/>
              </a:rPr>
              <a:t>Partie 2 · Technique</a:t>
            </a:r>
            <a:endParaRPr lang="en-US" sz="1300" dirty="0">
              <a:latin typeface="Lucida Sans" panose="020B0602030504020204" pitchFamily="34" charset="0"/>
            </a:endParaRPr>
          </a:p>
        </p:txBody>
      </p:sp>
      <p:sp>
        <p:nvSpPr>
          <p:cNvPr id="5" name="realisation-1"/>
          <p:cNvSpPr/>
          <p:nvPr/>
        </p:nvSpPr>
        <p:spPr>
          <a:xfrm>
            <a:off x="548640" y="1508760"/>
            <a:ext cx="3474720" cy="3749040"/>
          </a:xfrm>
          <a:prstGeom prst="roundRect">
            <a:avLst>
              <a:gd name="adj" fmla="val 3158"/>
            </a:avLst>
          </a:prstGeom>
          <a:solidFill>
            <a:srgbClr val="EEF5F1"/>
          </a:solidFill>
          <a:ln w="12700">
            <a:solidFill>
              <a:srgbClr val="EEF5F1"/>
            </a:solidFill>
            <a:prstDash val="solid"/>
          </a:ln>
        </p:spPr>
        <p:txBody>
          <a:bodyPr/>
          <a:lstStyle/>
          <a:p>
            <a:endParaRPr lang="fr-FR"/>
          </a:p>
        </p:txBody>
      </p:sp>
      <p:sp>
        <p:nvSpPr>
          <p:cNvPr id="6" name="icone-realisation-1-cercle"/>
          <p:cNvSpPr/>
          <p:nvPr/>
        </p:nvSpPr>
        <p:spPr>
          <a:xfrm>
            <a:off x="868680" y="1828800"/>
            <a:ext cx="914400" cy="914400"/>
          </a:xfrm>
          <a:prstGeom prst="ellipse">
            <a:avLst/>
          </a:prstGeom>
          <a:solidFill>
            <a:srgbClr val="1B6E53"/>
          </a:solidFill>
          <a:ln w="12700">
            <a:solidFill>
              <a:srgbClr val="1B6E53"/>
            </a:solidFill>
            <a:prstDash val="solid"/>
          </a:ln>
        </p:spPr>
        <p:txBody>
          <a:bodyPr/>
          <a:lstStyle/>
          <a:p>
            <a:endParaRPr lang="fr-FR"/>
          </a:p>
        </p:txBody>
      </p:sp>
      <p:pic>
        <p:nvPicPr>
          <p:cNvPr id="7" name="icone-realisation-1" descr="preencoded.png"/>
          <p:cNvPicPr>
            <a:picLocks noChangeAspect="1"/>
          </p:cNvPicPr>
          <p:nvPr/>
        </p:nvPicPr>
        <p:blipFill>
          <a:blip r:embed="rId3"/>
          <a:stretch>
            <a:fillRect/>
          </a:stretch>
        </p:blipFill>
        <p:spPr>
          <a:xfrm>
            <a:off x="1097280" y="2057400"/>
            <a:ext cx="457200" cy="457200"/>
          </a:xfrm>
          <a:prstGeom prst="rect">
            <a:avLst/>
          </a:prstGeom>
        </p:spPr>
      </p:pic>
      <p:sp>
        <p:nvSpPr>
          <p:cNvPr id="8" name="titre-realisation-1"/>
          <p:cNvSpPr txBox="1"/>
          <p:nvPr/>
        </p:nvSpPr>
        <p:spPr>
          <a:xfrm>
            <a:off x="868680" y="2971800"/>
            <a:ext cx="2880360" cy="822960"/>
          </a:xfrm>
          <a:prstGeom prst="rect">
            <a:avLst/>
          </a:prstGeom>
          <a:noFill/>
          <a:ln/>
        </p:spPr>
        <p:txBody>
          <a:bodyPr wrap="square" lIns="0" tIns="0" rIns="0" bIns="0" rtlCol="0" anchor="t"/>
          <a:lstStyle/>
          <a:p>
            <a:pPr marL="0" indent="0">
              <a:buNone/>
            </a:pPr>
            <a:r>
              <a:rPr lang="en-US" sz="2100" b="1" dirty="0">
                <a:solidFill>
                  <a:schemeClr val="tx1"/>
                </a:solidFill>
                <a:latin typeface="Lucida Sans" panose="020B0602030504020204" pitchFamily="34" charset="0"/>
              </a:rPr>
              <a:t>Un réseau 5G complet</a:t>
            </a:r>
            <a:endParaRPr lang="en-US" sz="2100" dirty="0">
              <a:latin typeface="Lucida Sans" panose="020B0602030504020204" pitchFamily="34" charset="0"/>
            </a:endParaRPr>
          </a:p>
        </p:txBody>
      </p:sp>
      <p:sp>
        <p:nvSpPr>
          <p:cNvPr id="9" name="texte-realisation-1"/>
          <p:cNvSpPr txBox="1"/>
          <p:nvPr/>
        </p:nvSpPr>
        <p:spPr>
          <a:xfrm>
            <a:off x="868680" y="3840480"/>
            <a:ext cx="2880360" cy="1280160"/>
          </a:xfrm>
          <a:prstGeom prst="rect">
            <a:avLst/>
          </a:prstGeom>
          <a:noFill/>
          <a:ln/>
        </p:spPr>
        <p:txBody>
          <a:bodyPr wrap="square" lIns="0" tIns="0" rIns="0" bIns="0" rtlCol="0" anchor="t"/>
          <a:lstStyle/>
          <a:p>
            <a:pPr marL="0" indent="0">
              <a:buNone/>
            </a:pPr>
            <a:r>
              <a:rPr lang="en-US" sz="1700" dirty="0">
                <a:solidFill>
                  <a:srgbClr val="5F6B7A"/>
                </a:solidFill>
                <a:latin typeface="Lucida Sans" panose="020B0602030504020204" pitchFamily="34" charset="0"/>
              </a:rPr>
              <a:t>Antenne et cœur de réseau avec le logiciel libre OpenAirInterface, installés à partir de la formation.</a:t>
            </a:r>
            <a:endParaRPr lang="en-US" sz="1700" dirty="0">
              <a:latin typeface="Lucida Sans" panose="020B0602030504020204" pitchFamily="34" charset="0"/>
            </a:endParaRPr>
          </a:p>
        </p:txBody>
      </p:sp>
      <p:sp>
        <p:nvSpPr>
          <p:cNvPr id="10" name="realisation-2"/>
          <p:cNvSpPr/>
          <p:nvPr/>
        </p:nvSpPr>
        <p:spPr>
          <a:xfrm>
            <a:off x="4297680" y="1508760"/>
            <a:ext cx="3474720" cy="3749040"/>
          </a:xfrm>
          <a:prstGeom prst="roundRect">
            <a:avLst>
              <a:gd name="adj" fmla="val 3158"/>
            </a:avLst>
          </a:prstGeom>
          <a:solidFill>
            <a:srgbClr val="EEF5F1"/>
          </a:solidFill>
          <a:ln w="12700">
            <a:solidFill>
              <a:srgbClr val="EEF5F1"/>
            </a:solidFill>
            <a:prstDash val="solid"/>
          </a:ln>
        </p:spPr>
        <p:txBody>
          <a:bodyPr/>
          <a:lstStyle/>
          <a:p>
            <a:endParaRPr lang="fr-FR"/>
          </a:p>
        </p:txBody>
      </p:sp>
      <p:sp>
        <p:nvSpPr>
          <p:cNvPr id="11" name="icone-realisation-2-cercle"/>
          <p:cNvSpPr/>
          <p:nvPr/>
        </p:nvSpPr>
        <p:spPr>
          <a:xfrm>
            <a:off x="4617720" y="1828800"/>
            <a:ext cx="914400" cy="914400"/>
          </a:xfrm>
          <a:prstGeom prst="ellipse">
            <a:avLst/>
          </a:prstGeom>
          <a:solidFill>
            <a:srgbClr val="1B6E53"/>
          </a:solidFill>
          <a:ln w="12700">
            <a:solidFill>
              <a:srgbClr val="1B6E53"/>
            </a:solidFill>
            <a:prstDash val="solid"/>
          </a:ln>
        </p:spPr>
        <p:txBody>
          <a:bodyPr/>
          <a:lstStyle/>
          <a:p>
            <a:endParaRPr lang="fr-FR"/>
          </a:p>
        </p:txBody>
      </p:sp>
      <p:pic>
        <p:nvPicPr>
          <p:cNvPr id="12" name="icone-realisation-2" descr="preencoded.png"/>
          <p:cNvPicPr>
            <a:picLocks noChangeAspect="1"/>
          </p:cNvPicPr>
          <p:nvPr/>
        </p:nvPicPr>
        <p:blipFill>
          <a:blip r:embed="rId4"/>
          <a:stretch>
            <a:fillRect/>
          </a:stretch>
        </p:blipFill>
        <p:spPr>
          <a:xfrm>
            <a:off x="4846320" y="2057400"/>
            <a:ext cx="457200" cy="457200"/>
          </a:xfrm>
          <a:prstGeom prst="rect">
            <a:avLst/>
          </a:prstGeom>
        </p:spPr>
      </p:pic>
      <p:sp>
        <p:nvSpPr>
          <p:cNvPr id="13" name="titre-realisation-2"/>
          <p:cNvSpPr txBox="1"/>
          <p:nvPr/>
        </p:nvSpPr>
        <p:spPr>
          <a:xfrm>
            <a:off x="4617720" y="2971800"/>
            <a:ext cx="2880360" cy="822960"/>
          </a:xfrm>
          <a:prstGeom prst="rect">
            <a:avLst/>
          </a:prstGeom>
          <a:noFill/>
          <a:ln/>
        </p:spPr>
        <p:txBody>
          <a:bodyPr wrap="square" lIns="0" tIns="0" rIns="0" bIns="0" rtlCol="0" anchor="t"/>
          <a:lstStyle/>
          <a:p>
            <a:pPr marL="0" indent="0">
              <a:buNone/>
            </a:pPr>
            <a:r>
              <a:rPr lang="en-US" sz="2100" b="1" dirty="0">
                <a:solidFill>
                  <a:schemeClr val="tx1"/>
                </a:solidFill>
                <a:latin typeface="Lucida Sans" panose="020B0602030504020204" pitchFamily="34" charset="0"/>
              </a:rPr>
              <a:t>Une box 5G pour les téléphones</a:t>
            </a:r>
            <a:endParaRPr lang="en-US" sz="2100" dirty="0">
              <a:latin typeface="Lucida Sans" panose="020B0602030504020204" pitchFamily="34" charset="0"/>
            </a:endParaRPr>
          </a:p>
        </p:txBody>
      </p:sp>
      <p:sp>
        <p:nvSpPr>
          <p:cNvPr id="14" name="texte-realisation-2"/>
          <p:cNvSpPr txBox="1"/>
          <p:nvPr/>
        </p:nvSpPr>
        <p:spPr>
          <a:xfrm>
            <a:off x="4617720" y="3840480"/>
            <a:ext cx="2880360" cy="1280160"/>
          </a:xfrm>
          <a:prstGeom prst="rect">
            <a:avLst/>
          </a:prstGeom>
          <a:noFill/>
          <a:ln/>
        </p:spPr>
        <p:txBody>
          <a:bodyPr wrap="square" lIns="0" tIns="0" rIns="0" bIns="0" rtlCol="0" anchor="t"/>
          <a:lstStyle/>
          <a:p>
            <a:pPr marL="0" indent="0">
              <a:buNone/>
            </a:pPr>
            <a:r>
              <a:rPr lang="en-US" sz="1700" dirty="0">
                <a:solidFill>
                  <a:srgbClr val="5F6B7A"/>
                </a:solidFill>
                <a:latin typeface="Lucida Sans" panose="020B0602030504020204" pitchFamily="34" charset="0"/>
              </a:rPr>
              <a:t>L'ordinateur diffuse le Wi-Fi Campus5G et fait passer les téléphones par le réseau 5G.</a:t>
            </a:r>
            <a:endParaRPr lang="en-US" sz="1700" dirty="0">
              <a:latin typeface="Lucida Sans" panose="020B0602030504020204" pitchFamily="34" charset="0"/>
            </a:endParaRPr>
          </a:p>
        </p:txBody>
      </p:sp>
      <p:sp>
        <p:nvSpPr>
          <p:cNvPr id="15" name="realisation-3"/>
          <p:cNvSpPr/>
          <p:nvPr/>
        </p:nvSpPr>
        <p:spPr>
          <a:xfrm>
            <a:off x="8046720" y="1508760"/>
            <a:ext cx="3474720" cy="3749040"/>
          </a:xfrm>
          <a:prstGeom prst="roundRect">
            <a:avLst>
              <a:gd name="adj" fmla="val 3158"/>
            </a:avLst>
          </a:prstGeom>
          <a:solidFill>
            <a:srgbClr val="EEF5F1"/>
          </a:solidFill>
          <a:ln w="12700">
            <a:solidFill>
              <a:srgbClr val="EEF5F1"/>
            </a:solidFill>
            <a:prstDash val="solid"/>
          </a:ln>
        </p:spPr>
        <p:txBody>
          <a:bodyPr/>
          <a:lstStyle/>
          <a:p>
            <a:endParaRPr lang="fr-FR"/>
          </a:p>
        </p:txBody>
      </p:sp>
      <p:sp>
        <p:nvSpPr>
          <p:cNvPr id="16" name="icone-realisation-3-cercle"/>
          <p:cNvSpPr/>
          <p:nvPr/>
        </p:nvSpPr>
        <p:spPr>
          <a:xfrm>
            <a:off x="8366760" y="1828800"/>
            <a:ext cx="914400" cy="914400"/>
          </a:xfrm>
          <a:prstGeom prst="ellipse">
            <a:avLst/>
          </a:prstGeom>
          <a:solidFill>
            <a:srgbClr val="1B6E53"/>
          </a:solidFill>
          <a:ln w="12700">
            <a:solidFill>
              <a:srgbClr val="1B6E53"/>
            </a:solidFill>
            <a:prstDash val="solid"/>
          </a:ln>
        </p:spPr>
        <p:txBody>
          <a:bodyPr/>
          <a:lstStyle/>
          <a:p>
            <a:endParaRPr lang="fr-FR"/>
          </a:p>
        </p:txBody>
      </p:sp>
      <p:pic>
        <p:nvPicPr>
          <p:cNvPr id="17" name="icone-realisation-3" descr="preencoded.png"/>
          <p:cNvPicPr>
            <a:picLocks noChangeAspect="1"/>
          </p:cNvPicPr>
          <p:nvPr/>
        </p:nvPicPr>
        <p:blipFill>
          <a:blip r:embed="rId5"/>
          <a:stretch>
            <a:fillRect/>
          </a:stretch>
        </p:blipFill>
        <p:spPr>
          <a:xfrm>
            <a:off x="8595360" y="2057400"/>
            <a:ext cx="457200" cy="457200"/>
          </a:xfrm>
          <a:prstGeom prst="rect">
            <a:avLst/>
          </a:prstGeom>
        </p:spPr>
      </p:pic>
      <p:sp>
        <p:nvSpPr>
          <p:cNvPr id="18" name="titre-realisation-3"/>
          <p:cNvSpPr txBox="1"/>
          <p:nvPr/>
        </p:nvSpPr>
        <p:spPr>
          <a:xfrm>
            <a:off x="8366760" y="2971800"/>
            <a:ext cx="2880360" cy="822960"/>
          </a:xfrm>
          <a:prstGeom prst="rect">
            <a:avLst/>
          </a:prstGeom>
          <a:noFill/>
          <a:ln/>
        </p:spPr>
        <p:txBody>
          <a:bodyPr wrap="square" lIns="0" tIns="0" rIns="0" bIns="0" rtlCol="0" anchor="t"/>
          <a:lstStyle/>
          <a:p>
            <a:pPr marL="0" indent="0">
              <a:buNone/>
            </a:pPr>
            <a:r>
              <a:rPr lang="en-US" sz="2100" b="1" dirty="0" err="1">
                <a:solidFill>
                  <a:schemeClr val="tx1"/>
                </a:solidFill>
                <a:latin typeface="Lucida Sans" panose="020B0602030504020204" pitchFamily="34" charset="0"/>
              </a:rPr>
              <a:t>L'application</a:t>
            </a:r>
            <a:r>
              <a:rPr lang="en-US" sz="2100" b="1" dirty="0">
                <a:solidFill>
                  <a:schemeClr val="tx1"/>
                </a:solidFill>
                <a:latin typeface="Lucida Sans" panose="020B0602030504020204" pitchFamily="34" charset="0"/>
              </a:rPr>
              <a:t> </a:t>
            </a:r>
            <a:r>
              <a:rPr lang="en-US" sz="2100" b="1" dirty="0" err="1">
                <a:latin typeface="Lucida Sans" panose="020B0602030504020204" pitchFamily="34" charset="0"/>
              </a:rPr>
              <a:t>MyWay</a:t>
            </a:r>
            <a:endParaRPr lang="en-US" sz="2100" dirty="0">
              <a:latin typeface="Lucida Sans" panose="020B0602030504020204" pitchFamily="34" charset="0"/>
            </a:endParaRPr>
          </a:p>
        </p:txBody>
      </p:sp>
      <p:sp>
        <p:nvSpPr>
          <p:cNvPr id="19" name="texte-realisation-3"/>
          <p:cNvSpPr txBox="1"/>
          <p:nvPr/>
        </p:nvSpPr>
        <p:spPr>
          <a:xfrm>
            <a:off x="8366760" y="3840480"/>
            <a:ext cx="2880360" cy="1280160"/>
          </a:xfrm>
          <a:prstGeom prst="rect">
            <a:avLst/>
          </a:prstGeom>
          <a:noFill/>
          <a:ln/>
        </p:spPr>
        <p:txBody>
          <a:bodyPr wrap="square" lIns="0" tIns="0" rIns="0" bIns="0" rtlCol="0" anchor="t"/>
          <a:lstStyle/>
          <a:p>
            <a:pPr marL="0" indent="0">
              <a:buNone/>
            </a:pPr>
            <a:r>
              <a:rPr lang="en-US" sz="1700" dirty="0">
                <a:solidFill>
                  <a:srgbClr val="5F6B7A"/>
                </a:solidFill>
                <a:latin typeface="Lucida Sans" panose="020B0602030504020204" pitchFamily="34" charset="0"/>
              </a:rPr>
              <a:t>Le plan du campus, les itinéraires et les photos des bâtiments, servis par notre serveur.</a:t>
            </a:r>
            <a:endParaRPr lang="en-US" sz="1700" dirty="0">
              <a:latin typeface="Lucida Sans" panose="020B0602030504020204" pitchFamily="34" charset="0"/>
            </a:endParaRPr>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F6B7A"/>
                </a:solidFill>
              </a:defRPr>
            </a:lvl1pPr>
          </a:lstStyle>
          <a:p>
            <a:pPr algn="r"/>
            <a:fld id="{F7021451-1387-4CA6-816F-3879F97B5CBC}" type="slidenum">
              <a:rPr lang="en-US" b="0"/>
              <a:t>7</a:t>
            </a:fld>
            <a:endParaRPr lang="en-US"/>
          </a:p>
        </p:txBody>
      </p:sp>
      <p:sp>
        <p:nvSpPr>
          <p:cNvPr id="20" name="ZoneTexte 19">
            <a:extLst>
              <a:ext uri="{FF2B5EF4-FFF2-40B4-BE49-F238E27FC236}">
                <a16:creationId xmlns:a16="http://schemas.microsoft.com/office/drawing/2014/main" id="{33FE54A3-F06B-6C00-6572-F44B8B11AA5C}"/>
              </a:ext>
            </a:extLst>
          </p:cNvPr>
          <p:cNvSpPr txBox="1"/>
          <p:nvPr/>
        </p:nvSpPr>
        <p:spPr>
          <a:xfrm>
            <a:off x="537882" y="6400800"/>
            <a:ext cx="3485478" cy="276999"/>
          </a:xfrm>
          <a:prstGeom prst="rect">
            <a:avLst/>
          </a:prstGeom>
          <a:solidFill>
            <a:schemeClr val="bg1"/>
          </a:solidFill>
        </p:spPr>
        <p:txBody>
          <a:bodyPr wrap="square" rtlCol="0">
            <a:spAutoFit/>
          </a:bodyPr>
          <a:lstStyle/>
          <a:p>
            <a:r>
              <a:rPr lang="fr-FR" sz="1200" dirty="0" err="1">
                <a:latin typeface="Lucida Sans" panose="020B0602030504020204" pitchFamily="34" charset="0"/>
              </a:rPr>
              <a:t>MyWay</a:t>
            </a:r>
            <a:r>
              <a:rPr lang="fr-FR" sz="1200" dirty="0">
                <a:latin typeface="Lucida Sans" panose="020B0602030504020204" pitchFamily="34" charset="0"/>
              </a:rPr>
              <a:t> – DiGITAfrikca2026</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11480"/>
            <a:ext cx="8778240" cy="822960"/>
          </a:xfrm>
          <a:prstGeom prst="rect">
            <a:avLst/>
          </a:prstGeom>
          <a:noFill/>
          <a:ln/>
        </p:spPr>
        <p:txBody>
          <a:bodyPr wrap="square" rtlCol="0" anchor="ctr"/>
          <a:lstStyle/>
          <a:p>
            <a:pPr marL="0" indent="0" algn="l">
              <a:buNone/>
            </a:pPr>
            <a:r>
              <a:rPr lang="en-US" dirty="0" err="1"/>
              <a:t>Vérifications</a:t>
            </a:r>
            <a:r>
              <a:rPr lang="en-US" dirty="0"/>
              <a:t> </a:t>
            </a:r>
            <a:r>
              <a:rPr lang="en-US" dirty="0" err="1"/>
              <a:t>effectuées</a:t>
            </a:r>
            <a:r>
              <a:rPr lang="en-US" dirty="0"/>
              <a:t> </a:t>
            </a:r>
            <a:endParaRPr lang="en-US" sz="3400" dirty="0"/>
          </a:p>
        </p:txBody>
      </p:sp>
      <p:sp>
        <p:nvSpPr>
          <p:cNvPr id="5" name="garantie-1"/>
          <p:cNvSpPr/>
          <p:nvPr/>
        </p:nvSpPr>
        <p:spPr>
          <a:xfrm>
            <a:off x="548640" y="1508760"/>
            <a:ext cx="5440680" cy="3566160"/>
          </a:xfrm>
          <a:prstGeom prst="roundRect">
            <a:avLst>
              <a:gd name="adj" fmla="val 3077"/>
            </a:avLst>
          </a:prstGeom>
          <a:solidFill>
            <a:srgbClr val="EEF5F1"/>
          </a:solidFill>
          <a:ln w="12700">
            <a:solidFill>
              <a:srgbClr val="EEF5F1"/>
            </a:solidFill>
            <a:prstDash val="solid"/>
          </a:ln>
        </p:spPr>
        <p:txBody>
          <a:bodyPr/>
          <a:lstStyle/>
          <a:p>
            <a:endParaRPr lang="fr-FR"/>
          </a:p>
        </p:txBody>
      </p:sp>
      <p:sp>
        <p:nvSpPr>
          <p:cNvPr id="6" name="cercle-garantie-1"/>
          <p:cNvSpPr/>
          <p:nvPr/>
        </p:nvSpPr>
        <p:spPr>
          <a:xfrm>
            <a:off x="914400" y="1828800"/>
            <a:ext cx="914400" cy="914400"/>
          </a:xfrm>
          <a:prstGeom prst="ellipse">
            <a:avLst/>
          </a:prstGeom>
          <a:solidFill>
            <a:srgbClr val="FFFFFF"/>
          </a:solidFill>
          <a:ln w="12700">
            <a:solidFill>
              <a:srgbClr val="FFFFFF"/>
            </a:solidFill>
            <a:prstDash val="solid"/>
          </a:ln>
        </p:spPr>
        <p:txBody>
          <a:bodyPr/>
          <a:lstStyle/>
          <a:p>
            <a:endParaRPr lang="fr-FR"/>
          </a:p>
        </p:txBody>
      </p:sp>
      <p:pic>
        <p:nvPicPr>
          <p:cNvPr id="7" name="icone-garantie-1" descr="preencoded.png"/>
          <p:cNvPicPr>
            <a:picLocks noChangeAspect="1"/>
          </p:cNvPicPr>
          <p:nvPr/>
        </p:nvPicPr>
        <p:blipFill>
          <a:blip r:embed="rId3"/>
          <a:stretch>
            <a:fillRect/>
          </a:stretch>
        </p:blipFill>
        <p:spPr>
          <a:xfrm>
            <a:off x="1143000" y="2057400"/>
            <a:ext cx="457200" cy="457200"/>
          </a:xfrm>
          <a:prstGeom prst="rect">
            <a:avLst/>
          </a:prstGeom>
        </p:spPr>
      </p:pic>
      <p:sp>
        <p:nvSpPr>
          <p:cNvPr id="8" name="titre-garantie-1"/>
          <p:cNvSpPr txBox="1"/>
          <p:nvPr/>
        </p:nvSpPr>
        <p:spPr>
          <a:xfrm>
            <a:off x="914400" y="3017520"/>
            <a:ext cx="4754880" cy="548640"/>
          </a:xfrm>
          <a:prstGeom prst="rect">
            <a:avLst/>
          </a:prstGeom>
          <a:noFill/>
          <a:ln/>
        </p:spPr>
        <p:txBody>
          <a:bodyPr wrap="square" lIns="0" tIns="0" rIns="0" bIns="0" rtlCol="0" anchor="ctr"/>
          <a:lstStyle/>
          <a:p>
            <a:pPr marL="0" indent="0">
              <a:buNone/>
            </a:pPr>
            <a:r>
              <a:rPr lang="en-US" sz="2400" b="1" dirty="0" err="1">
                <a:solidFill>
                  <a:srgbClr val="17312A"/>
                </a:solidFill>
              </a:rPr>
              <a:t>Fonctionnement</a:t>
            </a:r>
            <a:r>
              <a:rPr lang="en-US" sz="2400" b="1" dirty="0">
                <a:solidFill>
                  <a:srgbClr val="17312A"/>
                </a:solidFill>
              </a:rPr>
              <a:t> sans Internet</a:t>
            </a:r>
            <a:endParaRPr lang="en-US" sz="2400" dirty="0"/>
          </a:p>
        </p:txBody>
      </p:sp>
      <p:sp>
        <p:nvSpPr>
          <p:cNvPr id="9" name="texte-garantie-1"/>
          <p:cNvSpPr txBox="1"/>
          <p:nvPr/>
        </p:nvSpPr>
        <p:spPr>
          <a:xfrm>
            <a:off x="914400" y="3657600"/>
            <a:ext cx="4663440" cy="1280160"/>
          </a:xfrm>
          <a:prstGeom prst="rect">
            <a:avLst/>
          </a:prstGeom>
          <a:noFill/>
          <a:ln/>
        </p:spPr>
        <p:txBody>
          <a:bodyPr wrap="square" lIns="0" tIns="0" rIns="0" bIns="0" rtlCol="0" anchor="t"/>
          <a:lstStyle/>
          <a:p>
            <a:pPr marL="0" indent="0">
              <a:buNone/>
            </a:pPr>
            <a:r>
              <a:rPr lang="en-US" sz="1800" dirty="0">
                <a:solidFill>
                  <a:srgbClr val="5F6B7A"/>
                </a:solidFill>
              </a:rPr>
              <a:t>Le plan, les photos et l'application sont stockés sur notre serveur. On peut débrancher Internet : le guide marche toujours.</a:t>
            </a:r>
            <a:endParaRPr lang="en-US" sz="1800" dirty="0"/>
          </a:p>
        </p:txBody>
      </p:sp>
      <p:sp>
        <p:nvSpPr>
          <p:cNvPr id="10" name="garantie-2"/>
          <p:cNvSpPr/>
          <p:nvPr/>
        </p:nvSpPr>
        <p:spPr>
          <a:xfrm>
            <a:off x="6172200" y="1508760"/>
            <a:ext cx="5440680" cy="3566160"/>
          </a:xfrm>
          <a:prstGeom prst="roundRect">
            <a:avLst>
              <a:gd name="adj" fmla="val 3077"/>
            </a:avLst>
          </a:prstGeom>
          <a:solidFill>
            <a:srgbClr val="1B6E53"/>
          </a:solidFill>
          <a:ln w="12700">
            <a:solidFill>
              <a:srgbClr val="1B6E53"/>
            </a:solidFill>
            <a:prstDash val="solid"/>
          </a:ln>
        </p:spPr>
        <p:txBody>
          <a:bodyPr/>
          <a:lstStyle/>
          <a:p>
            <a:endParaRPr lang="fr-FR"/>
          </a:p>
        </p:txBody>
      </p:sp>
      <p:sp>
        <p:nvSpPr>
          <p:cNvPr id="11" name="cercle-garantie-2"/>
          <p:cNvSpPr/>
          <p:nvPr/>
        </p:nvSpPr>
        <p:spPr>
          <a:xfrm>
            <a:off x="6537960" y="1828800"/>
            <a:ext cx="914400" cy="914400"/>
          </a:xfrm>
          <a:prstGeom prst="ellipse">
            <a:avLst/>
          </a:prstGeom>
          <a:solidFill>
            <a:srgbClr val="FFFFFF"/>
          </a:solidFill>
          <a:ln w="12700">
            <a:solidFill>
              <a:srgbClr val="FFFFFF"/>
            </a:solidFill>
            <a:prstDash val="solid"/>
          </a:ln>
        </p:spPr>
        <p:txBody>
          <a:bodyPr/>
          <a:lstStyle/>
          <a:p>
            <a:endParaRPr lang="fr-FR"/>
          </a:p>
        </p:txBody>
      </p:sp>
      <p:pic>
        <p:nvPicPr>
          <p:cNvPr id="12" name="icone-garantie-2" descr="preencoded.png"/>
          <p:cNvPicPr>
            <a:picLocks noChangeAspect="1"/>
          </p:cNvPicPr>
          <p:nvPr/>
        </p:nvPicPr>
        <p:blipFill>
          <a:blip r:embed="rId4"/>
          <a:stretch>
            <a:fillRect/>
          </a:stretch>
        </p:blipFill>
        <p:spPr>
          <a:xfrm>
            <a:off x="6766560" y="2057400"/>
            <a:ext cx="457200" cy="457200"/>
          </a:xfrm>
          <a:prstGeom prst="rect">
            <a:avLst/>
          </a:prstGeom>
        </p:spPr>
      </p:pic>
      <p:sp>
        <p:nvSpPr>
          <p:cNvPr id="13" name="titre-garantie-2"/>
          <p:cNvSpPr txBox="1"/>
          <p:nvPr/>
        </p:nvSpPr>
        <p:spPr>
          <a:xfrm>
            <a:off x="6537960" y="3017520"/>
            <a:ext cx="4754880" cy="548640"/>
          </a:xfrm>
          <a:prstGeom prst="rect">
            <a:avLst/>
          </a:prstGeom>
          <a:noFill/>
          <a:ln/>
        </p:spPr>
        <p:txBody>
          <a:bodyPr wrap="square" lIns="0" tIns="0" rIns="0" bIns="0" rtlCol="0" anchor="ctr"/>
          <a:lstStyle/>
          <a:p>
            <a:pPr marL="0" indent="0">
              <a:buNone/>
            </a:pPr>
            <a:r>
              <a:rPr lang="en-US" sz="2400" b="1" dirty="0">
                <a:solidFill>
                  <a:srgbClr val="FFFFFF"/>
                </a:solidFill>
              </a:rPr>
              <a:t>Passage par la 5G</a:t>
            </a:r>
            <a:endParaRPr lang="en-US" sz="2400" dirty="0"/>
          </a:p>
        </p:txBody>
      </p:sp>
      <p:sp>
        <p:nvSpPr>
          <p:cNvPr id="14" name="texte-garantie-2"/>
          <p:cNvSpPr txBox="1"/>
          <p:nvPr/>
        </p:nvSpPr>
        <p:spPr>
          <a:xfrm>
            <a:off x="6537960" y="3657600"/>
            <a:ext cx="4663440" cy="1280160"/>
          </a:xfrm>
          <a:prstGeom prst="rect">
            <a:avLst/>
          </a:prstGeom>
          <a:noFill/>
          <a:ln/>
        </p:spPr>
        <p:txBody>
          <a:bodyPr wrap="square" lIns="0" tIns="0" rIns="0" bIns="0" rtlCol="0" anchor="t"/>
          <a:lstStyle/>
          <a:p>
            <a:pPr marL="0" indent="0">
              <a:buNone/>
            </a:pPr>
            <a:r>
              <a:rPr lang="en-US" sz="1800" dirty="0">
                <a:solidFill>
                  <a:srgbClr val="E2F1EA"/>
                </a:solidFill>
              </a:rPr>
              <a:t>Notre serveur ne voit jamais le téléphone, seulement le cœur de réseau 5G.</a:t>
            </a:r>
            <a:endParaRPr lang="en-US" sz="18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F6B7A"/>
                </a:solidFill>
              </a:defRPr>
            </a:lvl1pPr>
          </a:lstStyle>
          <a:p>
            <a:pPr algn="r"/>
            <a:fld id="{F7021451-1387-4CA6-816F-3879F97B5CBC}" type="slidenum">
              <a:rPr lang="en-US" b="0"/>
              <a:t>8</a:t>
            </a:fld>
            <a:endParaRPr lang="en-US"/>
          </a:p>
        </p:txBody>
      </p:sp>
      <p:sp>
        <p:nvSpPr>
          <p:cNvPr id="15" name="pastille-partie">
            <a:extLst>
              <a:ext uri="{FF2B5EF4-FFF2-40B4-BE49-F238E27FC236}">
                <a16:creationId xmlns:a16="http://schemas.microsoft.com/office/drawing/2014/main" id="{ED8868A8-F240-9BB0-1559-A56B269893CD}"/>
              </a:ext>
            </a:extLst>
          </p:cNvPr>
          <p:cNvSpPr/>
          <p:nvPr/>
        </p:nvSpPr>
        <p:spPr>
          <a:xfrm>
            <a:off x="9601200" y="566928"/>
            <a:ext cx="2103120" cy="457200"/>
          </a:xfrm>
          <a:prstGeom prst="roundRect">
            <a:avLst>
              <a:gd name="adj" fmla="val 50000"/>
            </a:avLst>
          </a:prstGeom>
          <a:solidFill>
            <a:schemeClr val="bg2"/>
          </a:solidFill>
          <a:ln w="12700">
            <a:noFill/>
            <a:prstDash val="solid"/>
          </a:ln>
        </p:spPr>
        <p:txBody>
          <a:bodyPr/>
          <a:lstStyle/>
          <a:p>
            <a:endParaRPr lang="fr-FR"/>
          </a:p>
        </p:txBody>
      </p:sp>
      <p:sp>
        <p:nvSpPr>
          <p:cNvPr id="16" name="texte-pastille-partie">
            <a:extLst>
              <a:ext uri="{FF2B5EF4-FFF2-40B4-BE49-F238E27FC236}">
                <a16:creationId xmlns:a16="http://schemas.microsoft.com/office/drawing/2014/main" id="{3E95B375-1161-4452-0F5F-0090C5722423}"/>
              </a:ext>
            </a:extLst>
          </p:cNvPr>
          <p:cNvSpPr txBox="1"/>
          <p:nvPr/>
        </p:nvSpPr>
        <p:spPr>
          <a:xfrm>
            <a:off x="9540240" y="548640"/>
            <a:ext cx="2103120" cy="457200"/>
          </a:xfrm>
          <a:prstGeom prst="rect">
            <a:avLst/>
          </a:prstGeom>
          <a:noFill/>
          <a:ln/>
        </p:spPr>
        <p:txBody>
          <a:bodyPr wrap="square" lIns="0" tIns="0" rIns="0" bIns="0" rtlCol="0" anchor="ctr"/>
          <a:lstStyle/>
          <a:p>
            <a:pPr marL="0" indent="0" algn="ctr">
              <a:buNone/>
            </a:pPr>
            <a:r>
              <a:rPr lang="en-US" sz="1300" b="1" dirty="0">
                <a:latin typeface="Lucida Sans" panose="020B0602030504020204" pitchFamily="34" charset="0"/>
              </a:rPr>
              <a:t>Partie 2 · Technique</a:t>
            </a:r>
            <a:endParaRPr lang="en-US" sz="1300" dirty="0">
              <a:latin typeface="Lucida Sans" panose="020B0602030504020204" pitchFamily="34" charset="0"/>
            </a:endParaRPr>
          </a:p>
        </p:txBody>
      </p:sp>
      <p:sp>
        <p:nvSpPr>
          <p:cNvPr id="17" name="ZoneTexte 16">
            <a:extLst>
              <a:ext uri="{FF2B5EF4-FFF2-40B4-BE49-F238E27FC236}">
                <a16:creationId xmlns:a16="http://schemas.microsoft.com/office/drawing/2014/main" id="{F775B617-2A1E-36CE-2E46-4B64F213201A}"/>
              </a:ext>
            </a:extLst>
          </p:cNvPr>
          <p:cNvSpPr txBox="1"/>
          <p:nvPr/>
        </p:nvSpPr>
        <p:spPr>
          <a:xfrm>
            <a:off x="537882" y="6400800"/>
            <a:ext cx="3485478" cy="276999"/>
          </a:xfrm>
          <a:prstGeom prst="rect">
            <a:avLst/>
          </a:prstGeom>
          <a:solidFill>
            <a:schemeClr val="bg1"/>
          </a:solidFill>
        </p:spPr>
        <p:txBody>
          <a:bodyPr wrap="square" rtlCol="0">
            <a:spAutoFit/>
          </a:bodyPr>
          <a:lstStyle/>
          <a:p>
            <a:r>
              <a:rPr lang="fr-FR" sz="1200" dirty="0" err="1">
                <a:latin typeface="Lucida Sans" panose="020B0602030504020204" pitchFamily="34" charset="0"/>
              </a:rPr>
              <a:t>MyWay</a:t>
            </a:r>
            <a:r>
              <a:rPr lang="fr-FR" sz="1200" dirty="0">
                <a:latin typeface="Lucida Sans" panose="020B0602030504020204" pitchFamily="34" charset="0"/>
              </a:rPr>
              <a:t> – DiGITAfrikca2026</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731520" y="1828800"/>
            <a:ext cx="9509760" cy="1554480"/>
          </a:xfrm>
          <a:prstGeom prst="rect">
            <a:avLst/>
          </a:prstGeom>
          <a:noFill/>
          <a:ln/>
        </p:spPr>
        <p:txBody>
          <a:bodyPr wrap="square" rtlCol="0" anchor="b"/>
          <a:lstStyle/>
          <a:p>
            <a:pPr marL="0" indent="0" algn="l">
              <a:buNone/>
            </a:pPr>
            <a:r>
              <a:rPr lang="en-US" sz="4400" b="1" dirty="0">
                <a:solidFill>
                  <a:schemeClr val="bg1"/>
                </a:solidFill>
              </a:rPr>
              <a:t>Démonstration en direct</a:t>
            </a:r>
            <a:endParaRPr lang="en-US" sz="4400" dirty="0"/>
          </a:p>
        </p:txBody>
      </p:sp>
      <p:sp>
        <p:nvSpPr>
          <p:cNvPr id="3" name="Text 0"/>
          <p:cNvSpPr>
            <a:spLocks noGrp="1"/>
          </p:cNvSpPr>
          <p:nvPr>
            <p:ph type="body" idx="101" hasCustomPrompt="1"/>
          </p:nvPr>
        </p:nvSpPr>
        <p:spPr>
          <a:xfrm>
            <a:off x="731520" y="3520440"/>
            <a:ext cx="9509760" cy="1188720"/>
          </a:xfrm>
          <a:prstGeom prst="rect">
            <a:avLst/>
          </a:prstGeom>
          <a:noFill/>
          <a:ln/>
        </p:spPr>
        <p:txBody>
          <a:bodyPr wrap="square" rtlCol="0" anchor="t"/>
          <a:lstStyle/>
          <a:p>
            <a:pPr marL="0" indent="0" algn="l">
              <a:buNone/>
            </a:pPr>
            <a:r>
              <a:rPr lang="en-US" sz="2200" dirty="0">
                <a:solidFill>
                  <a:srgbClr val="C9E4D8"/>
                </a:solidFill>
              </a:rPr>
              <a:t>1. Le téléphone se connecte au Wi-Fi « Campus5G »</a:t>
            </a:r>
            <a:endParaRPr lang="en-US" sz="2200" dirty="0"/>
          </a:p>
          <a:p>
            <a:pPr marL="0" indent="0" algn="l">
              <a:buNone/>
            </a:pPr>
            <a:r>
              <a:rPr lang="en-US" sz="2200" dirty="0">
                <a:solidFill>
                  <a:srgbClr val="C9E4D8"/>
                </a:solidFill>
              </a:rPr>
              <a:t>2. Il scanne le QR code du restaurant</a:t>
            </a:r>
            <a:endParaRPr lang="en-US" sz="2200" dirty="0"/>
          </a:p>
          <a:p>
            <a:pPr marL="0" indent="0" algn="l">
              <a:buNone/>
            </a:pPr>
            <a:r>
              <a:rPr lang="en-US" sz="2200" dirty="0">
                <a:solidFill>
                  <a:srgbClr val="C9E4D8"/>
                </a:solidFill>
              </a:rPr>
              <a:t>3. Il choisit l'auditorium et suit le chemin</a:t>
            </a:r>
            <a:endParaRPr lang="en-US" sz="2200" dirty="0"/>
          </a:p>
          <a:p>
            <a:pPr marL="0" indent="0" algn="l">
              <a:buNone/>
            </a:pPr>
            <a:r>
              <a:rPr lang="en-US" sz="2200" dirty="0">
                <a:solidFill>
                  <a:srgbClr val="C9E4D8"/>
                </a:solidFill>
              </a:rPr>
              <a:t>4. Preuve : la visite passe par le cœur de réseau 5G</a:t>
            </a:r>
            <a:endParaRPr lang="en-US" sz="2200" dirty="0"/>
          </a:p>
        </p:txBody>
      </p:sp>
      <p:sp>
        <p:nvSpPr>
          <p:cNvPr id="4" name="icone-demo-cercle"/>
          <p:cNvSpPr/>
          <p:nvPr/>
        </p:nvSpPr>
        <p:spPr>
          <a:xfrm>
            <a:off x="10515600" y="640080"/>
            <a:ext cx="1005840" cy="1005840"/>
          </a:xfrm>
          <a:prstGeom prst="ellipse">
            <a:avLst/>
          </a:prstGeom>
          <a:solidFill>
            <a:srgbClr val="1B6E53"/>
          </a:solidFill>
          <a:ln w="12700">
            <a:solidFill>
              <a:srgbClr val="1B6E53"/>
            </a:solidFill>
            <a:prstDash val="solid"/>
          </a:ln>
        </p:spPr>
        <p:txBody>
          <a:bodyPr/>
          <a:lstStyle/>
          <a:p>
            <a:endParaRPr lang="fr-FR"/>
          </a:p>
        </p:txBody>
      </p:sp>
      <p:pic>
        <p:nvPicPr>
          <p:cNvPr id="5" name="icone-demo" descr="preencoded.png"/>
          <p:cNvPicPr>
            <a:picLocks noChangeAspect="1"/>
          </p:cNvPicPr>
          <p:nvPr/>
        </p:nvPicPr>
        <p:blipFill>
          <a:blip r:embed="rId3"/>
          <a:stretch>
            <a:fillRect/>
          </a:stretch>
        </p:blipFill>
        <p:spPr>
          <a:xfrm>
            <a:off x="10767060" y="891540"/>
            <a:ext cx="502920" cy="50292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11480"/>
            <a:ext cx="8778240" cy="822960"/>
          </a:xfrm>
          <a:prstGeom prst="rect">
            <a:avLst/>
          </a:prstGeom>
          <a:noFill/>
          <a:ln/>
        </p:spPr>
        <p:txBody>
          <a:bodyPr wrap="square" rtlCol="0" anchor="ctr"/>
          <a:lstStyle/>
          <a:p>
            <a:pPr marL="0" indent="0" algn="l">
              <a:buNone/>
            </a:pPr>
            <a:r>
              <a:rPr lang="en-US" sz="3400" b="1" dirty="0">
                <a:solidFill>
                  <a:schemeClr val="tx1"/>
                </a:solidFill>
              </a:rPr>
              <a:t>Et ensuite ?</a:t>
            </a:r>
            <a:endParaRPr lang="en-US" sz="3400" dirty="0"/>
          </a:p>
        </p:txBody>
      </p:sp>
      <p:sp>
        <p:nvSpPr>
          <p:cNvPr id="3" name="pastille-partie"/>
          <p:cNvSpPr/>
          <p:nvPr/>
        </p:nvSpPr>
        <p:spPr>
          <a:xfrm>
            <a:off x="9555480" y="566928"/>
            <a:ext cx="2103120" cy="457200"/>
          </a:xfrm>
          <a:prstGeom prst="roundRect">
            <a:avLst>
              <a:gd name="adj" fmla="val 50000"/>
            </a:avLst>
          </a:prstGeom>
          <a:solidFill>
            <a:srgbClr val="F2A541"/>
          </a:solidFill>
          <a:ln w="12700">
            <a:solidFill>
              <a:srgbClr val="F2A541"/>
            </a:solidFill>
            <a:prstDash val="solid"/>
          </a:ln>
        </p:spPr>
        <p:txBody>
          <a:bodyPr/>
          <a:lstStyle/>
          <a:p>
            <a:endParaRPr lang="fr-FR"/>
          </a:p>
        </p:txBody>
      </p:sp>
      <p:sp>
        <p:nvSpPr>
          <p:cNvPr id="4" name="texte-pastille-partie"/>
          <p:cNvSpPr txBox="1"/>
          <p:nvPr/>
        </p:nvSpPr>
        <p:spPr>
          <a:xfrm>
            <a:off x="9555480" y="566928"/>
            <a:ext cx="2103120" cy="457200"/>
          </a:xfrm>
          <a:prstGeom prst="rect">
            <a:avLst/>
          </a:prstGeom>
          <a:noFill/>
          <a:ln/>
        </p:spPr>
        <p:txBody>
          <a:bodyPr wrap="square" lIns="0" tIns="0" rIns="0" bIns="0" rtlCol="0" anchor="ctr"/>
          <a:lstStyle/>
          <a:p>
            <a:pPr marL="0" indent="0" algn="ctr">
              <a:buNone/>
            </a:pPr>
            <a:r>
              <a:rPr lang="en-US" sz="1300" b="1" dirty="0">
                <a:solidFill>
                  <a:srgbClr val="17312A"/>
                </a:solidFill>
              </a:rPr>
              <a:t>Partie 3 · Démo</a:t>
            </a:r>
            <a:endParaRPr lang="en-US" sz="1300" dirty="0"/>
          </a:p>
        </p:txBody>
      </p:sp>
      <p:sp>
        <p:nvSpPr>
          <p:cNvPr id="5" name="colonne-aujourdhui"/>
          <p:cNvSpPr/>
          <p:nvPr/>
        </p:nvSpPr>
        <p:spPr>
          <a:xfrm>
            <a:off x="548640" y="1508760"/>
            <a:ext cx="5440680" cy="3566160"/>
          </a:xfrm>
          <a:prstGeom prst="roundRect">
            <a:avLst>
              <a:gd name="adj" fmla="val 3077"/>
            </a:avLst>
          </a:prstGeom>
          <a:solidFill>
            <a:srgbClr val="EEF5F1"/>
          </a:solidFill>
          <a:ln w="12700">
            <a:solidFill>
              <a:srgbClr val="EEF5F1"/>
            </a:solidFill>
            <a:prstDash val="solid"/>
          </a:ln>
        </p:spPr>
        <p:txBody>
          <a:bodyPr/>
          <a:lstStyle/>
          <a:p>
            <a:endParaRPr lang="fr-FR"/>
          </a:p>
        </p:txBody>
      </p:sp>
      <p:pic>
        <p:nvPicPr>
          <p:cNvPr id="6" name="colonne-aujourdhui-icone" descr="preencoded.png"/>
          <p:cNvPicPr>
            <a:picLocks noChangeAspect="1"/>
          </p:cNvPicPr>
          <p:nvPr/>
        </p:nvPicPr>
        <p:blipFill>
          <a:blip r:embed="rId3"/>
          <a:stretch>
            <a:fillRect/>
          </a:stretch>
        </p:blipFill>
        <p:spPr>
          <a:xfrm>
            <a:off x="914400" y="1783080"/>
            <a:ext cx="502920" cy="502920"/>
          </a:xfrm>
          <a:prstGeom prst="rect">
            <a:avLst/>
          </a:prstGeom>
        </p:spPr>
      </p:pic>
      <p:sp>
        <p:nvSpPr>
          <p:cNvPr id="7" name="colonne-aujourdhui-titre"/>
          <p:cNvSpPr txBox="1"/>
          <p:nvPr/>
        </p:nvSpPr>
        <p:spPr>
          <a:xfrm>
            <a:off x="1600200" y="1783080"/>
            <a:ext cx="4114800" cy="502920"/>
          </a:xfrm>
          <a:prstGeom prst="rect">
            <a:avLst/>
          </a:prstGeom>
          <a:noFill/>
          <a:ln/>
        </p:spPr>
        <p:txBody>
          <a:bodyPr wrap="square" lIns="0" tIns="0" rIns="0" bIns="0" rtlCol="0" anchor="ctr"/>
          <a:lstStyle/>
          <a:p>
            <a:pPr marL="0" indent="0">
              <a:buNone/>
            </a:pPr>
            <a:r>
              <a:rPr lang="en-US" sz="2200" b="1" dirty="0">
                <a:solidFill>
                  <a:schemeClr val="tx1"/>
                </a:solidFill>
              </a:rPr>
              <a:t>Aujourd'hui, pour le hackathon</a:t>
            </a:r>
            <a:endParaRPr lang="en-US" sz="2200" dirty="0"/>
          </a:p>
        </p:txBody>
      </p:sp>
      <p:sp>
        <p:nvSpPr>
          <p:cNvPr id="8" name="colonne-aujourdhui-liste"/>
          <p:cNvSpPr txBox="1"/>
          <p:nvPr/>
        </p:nvSpPr>
        <p:spPr>
          <a:xfrm>
            <a:off x="914400" y="2560320"/>
            <a:ext cx="4754880" cy="2377440"/>
          </a:xfrm>
          <a:prstGeom prst="rect">
            <a:avLst/>
          </a:prstGeom>
          <a:noFill/>
          <a:ln/>
        </p:spPr>
        <p:txBody>
          <a:bodyPr wrap="square" rtlCol="0" anchor="t"/>
          <a:lstStyle/>
          <a:p>
            <a:pPr marL="342900" indent="-342900">
              <a:spcAft>
                <a:spcPts val="1400"/>
              </a:spcAft>
              <a:buSzPct val="100000"/>
              <a:buChar char="•"/>
            </a:pPr>
            <a:r>
              <a:rPr lang="en-US" sz="2000" dirty="0">
                <a:solidFill>
                  <a:schemeClr val="tx1"/>
                </a:solidFill>
              </a:rPr>
              <a:t>L'antenne 5G est simulée par logiciel.</a:t>
            </a:r>
            <a:endParaRPr lang="en-US" sz="2000" dirty="0"/>
          </a:p>
          <a:p>
            <a:pPr marL="342900" indent="-342900">
              <a:spcAft>
                <a:spcPts val="1400"/>
              </a:spcAft>
              <a:buSzPct val="100000"/>
              <a:buChar char="•"/>
            </a:pPr>
            <a:r>
              <a:rPr lang="en-US" sz="2000" dirty="0">
                <a:solidFill>
                  <a:schemeClr val="tx1"/>
                </a:solidFill>
              </a:rPr>
              <a:t>Les téléphones passent par notre box 5G.</a:t>
            </a:r>
            <a:endParaRPr lang="en-US" sz="2000" dirty="0"/>
          </a:p>
          <a:p>
            <a:pPr marL="342900" indent="-342900">
              <a:spcAft>
                <a:spcPts val="1400"/>
              </a:spcAft>
              <a:buSzPct val="100000"/>
              <a:buChar char="•"/>
            </a:pPr>
            <a:r>
              <a:rPr lang="en-US" sz="2000" dirty="0" err="1">
                <a:solidFill>
                  <a:schemeClr val="tx1"/>
                </a:solidFill>
              </a:rPr>
              <a:t>L’application</a:t>
            </a:r>
            <a:r>
              <a:rPr lang="en-US" sz="2000" dirty="0">
                <a:solidFill>
                  <a:schemeClr val="tx1"/>
                </a:solidFill>
              </a:rPr>
              <a:t>  couvre les principaux bâtiments.</a:t>
            </a:r>
            <a:endParaRPr lang="en-US" sz="2000" dirty="0"/>
          </a:p>
        </p:txBody>
      </p:sp>
      <p:sp>
        <p:nvSpPr>
          <p:cNvPr id="9" name="colonne-demain"/>
          <p:cNvSpPr/>
          <p:nvPr/>
        </p:nvSpPr>
        <p:spPr>
          <a:xfrm>
            <a:off x="6172200" y="1508760"/>
            <a:ext cx="5440680" cy="3566160"/>
          </a:xfrm>
          <a:prstGeom prst="roundRect">
            <a:avLst>
              <a:gd name="adj" fmla="val 3077"/>
            </a:avLst>
          </a:prstGeom>
          <a:solidFill>
            <a:srgbClr val="EEF5F1"/>
          </a:solidFill>
          <a:ln w="12700">
            <a:solidFill>
              <a:srgbClr val="EEF5F1"/>
            </a:solidFill>
            <a:prstDash val="solid"/>
          </a:ln>
        </p:spPr>
        <p:txBody>
          <a:bodyPr/>
          <a:lstStyle/>
          <a:p>
            <a:endParaRPr lang="fr-FR"/>
          </a:p>
        </p:txBody>
      </p:sp>
      <p:pic>
        <p:nvPicPr>
          <p:cNvPr id="10" name="colonne-demain-icone" descr="preencoded.png"/>
          <p:cNvPicPr>
            <a:picLocks noChangeAspect="1"/>
          </p:cNvPicPr>
          <p:nvPr/>
        </p:nvPicPr>
        <p:blipFill>
          <a:blip r:embed="rId4"/>
          <a:stretch>
            <a:fillRect/>
          </a:stretch>
        </p:blipFill>
        <p:spPr>
          <a:xfrm>
            <a:off x="6537960" y="1783080"/>
            <a:ext cx="502920" cy="502920"/>
          </a:xfrm>
          <a:prstGeom prst="rect">
            <a:avLst/>
          </a:prstGeom>
        </p:spPr>
      </p:pic>
      <p:sp>
        <p:nvSpPr>
          <p:cNvPr id="11" name="colonne-demain-titre"/>
          <p:cNvSpPr txBox="1"/>
          <p:nvPr/>
        </p:nvSpPr>
        <p:spPr>
          <a:xfrm>
            <a:off x="7223760" y="1783080"/>
            <a:ext cx="4114800" cy="502920"/>
          </a:xfrm>
          <a:prstGeom prst="rect">
            <a:avLst/>
          </a:prstGeom>
          <a:noFill/>
          <a:ln/>
        </p:spPr>
        <p:txBody>
          <a:bodyPr wrap="square" lIns="0" tIns="0" rIns="0" bIns="0" rtlCol="0" anchor="ctr"/>
          <a:lstStyle/>
          <a:p>
            <a:pPr marL="0" indent="0">
              <a:buNone/>
            </a:pPr>
            <a:r>
              <a:rPr lang="en-US" sz="2200" b="1" dirty="0">
                <a:solidFill>
                  <a:schemeClr val="tx1"/>
                </a:solidFill>
              </a:rPr>
              <a:t>Demain, sur le campus</a:t>
            </a:r>
            <a:endParaRPr lang="en-US" sz="2200" dirty="0"/>
          </a:p>
        </p:txBody>
      </p:sp>
      <p:sp>
        <p:nvSpPr>
          <p:cNvPr id="12" name="colonne-demain-liste"/>
          <p:cNvSpPr txBox="1"/>
          <p:nvPr/>
        </p:nvSpPr>
        <p:spPr>
          <a:xfrm>
            <a:off x="6537960" y="2560320"/>
            <a:ext cx="4754880" cy="2377440"/>
          </a:xfrm>
          <a:prstGeom prst="rect">
            <a:avLst/>
          </a:prstGeom>
          <a:noFill/>
          <a:ln/>
        </p:spPr>
        <p:txBody>
          <a:bodyPr wrap="square" rtlCol="0" anchor="t"/>
          <a:lstStyle/>
          <a:p>
            <a:pPr marL="342900" indent="-342900">
              <a:spcAft>
                <a:spcPts val="1400"/>
              </a:spcAft>
              <a:buSzPct val="100000"/>
              <a:buChar char="•"/>
            </a:pPr>
            <a:r>
              <a:rPr lang="en-US" sz="2000" dirty="0">
                <a:solidFill>
                  <a:schemeClr val="tx1"/>
                </a:solidFill>
              </a:rPr>
              <a:t>Une vraie antenne et des cartes SIM pour l'école.</a:t>
            </a:r>
            <a:endParaRPr lang="en-US" sz="2000" dirty="0"/>
          </a:p>
          <a:p>
            <a:pPr marL="342900" indent="-342900">
              <a:spcAft>
                <a:spcPts val="1400"/>
              </a:spcAft>
              <a:buSzPct val="100000"/>
              <a:buChar char="•"/>
            </a:pPr>
            <a:r>
              <a:rPr lang="en-US" sz="2000" dirty="0">
                <a:solidFill>
                  <a:schemeClr val="tx1"/>
                </a:solidFill>
              </a:rPr>
              <a:t>Tous les bâtiments, salles et photos du campus.</a:t>
            </a:r>
            <a:endParaRPr lang="en-US" sz="2000" dirty="0"/>
          </a:p>
          <a:p>
            <a:pPr marL="342900" indent="-342900">
              <a:spcAft>
                <a:spcPts val="1400"/>
              </a:spcAft>
              <a:buSzPct val="100000"/>
              <a:buChar char="•"/>
            </a:pPr>
            <a:r>
              <a:rPr lang="en-US" sz="2000" dirty="0">
                <a:solidFill>
                  <a:schemeClr val="tx1"/>
                </a:solidFill>
              </a:rPr>
              <a:t>Une version en wolof et en anglais.</a:t>
            </a:r>
            <a:endParaRPr lang="en-US" sz="20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F6B7A"/>
                </a:solidFill>
              </a:defRPr>
            </a:lvl1pPr>
          </a:lstStyle>
          <a:p>
            <a:pPr algn="r"/>
            <a:fld id="{F7021451-1387-4CA6-816F-3879F97B5CBC}" type="slidenum">
              <a:rPr lang="en-US" b="0"/>
              <a:t>10</a:t>
            </a:fld>
            <a:endParaRPr lang="en-US"/>
          </a:p>
        </p:txBody>
      </p:sp>
      <p:sp>
        <p:nvSpPr>
          <p:cNvPr id="13" name="ZoneTexte 12">
            <a:extLst>
              <a:ext uri="{FF2B5EF4-FFF2-40B4-BE49-F238E27FC236}">
                <a16:creationId xmlns:a16="http://schemas.microsoft.com/office/drawing/2014/main" id="{EC3DC3F9-157A-B060-3F3E-19EB88C56BE0}"/>
              </a:ext>
            </a:extLst>
          </p:cNvPr>
          <p:cNvSpPr txBox="1"/>
          <p:nvPr/>
        </p:nvSpPr>
        <p:spPr>
          <a:xfrm>
            <a:off x="537882" y="6400800"/>
            <a:ext cx="3485478" cy="276999"/>
          </a:xfrm>
          <a:prstGeom prst="rect">
            <a:avLst/>
          </a:prstGeom>
          <a:solidFill>
            <a:schemeClr val="bg1"/>
          </a:solidFill>
        </p:spPr>
        <p:txBody>
          <a:bodyPr wrap="square" rtlCol="0">
            <a:spAutoFit/>
          </a:bodyPr>
          <a:lstStyle/>
          <a:p>
            <a:r>
              <a:rPr lang="fr-FR" sz="1200" dirty="0" err="1">
                <a:latin typeface="Lucida Sans" panose="020B0602030504020204" pitchFamily="34" charset="0"/>
              </a:rPr>
              <a:t>MyWay</a:t>
            </a:r>
            <a:r>
              <a:rPr lang="fr-FR" sz="1200" dirty="0">
                <a:latin typeface="Lucida Sans" panose="020B0602030504020204" pitchFamily="34" charset="0"/>
              </a:rPr>
              <a:t> – DiGITAfrikca2026</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731520" y="1828800"/>
            <a:ext cx="9509760" cy="1554480"/>
          </a:xfrm>
          <a:prstGeom prst="rect">
            <a:avLst/>
          </a:prstGeom>
          <a:noFill/>
          <a:ln/>
        </p:spPr>
        <p:txBody>
          <a:bodyPr wrap="square" rtlCol="0" anchor="b"/>
          <a:lstStyle/>
          <a:p>
            <a:pPr marL="0" indent="0" algn="l">
              <a:buNone/>
            </a:pPr>
            <a:r>
              <a:rPr lang="en-US" sz="4400" b="1" dirty="0">
                <a:solidFill>
                  <a:schemeClr val="bg1"/>
                </a:solidFill>
              </a:rPr>
              <a:t>Notre 5G, au service de l'EPT</a:t>
            </a:r>
            <a:endParaRPr lang="en-US" sz="4400" dirty="0"/>
          </a:p>
        </p:txBody>
      </p:sp>
      <p:sp>
        <p:nvSpPr>
          <p:cNvPr id="3" name="Text 0"/>
          <p:cNvSpPr>
            <a:spLocks noGrp="1"/>
          </p:cNvSpPr>
          <p:nvPr>
            <p:ph type="body" idx="101" hasCustomPrompt="1"/>
          </p:nvPr>
        </p:nvSpPr>
        <p:spPr>
          <a:xfrm>
            <a:off x="731520" y="3520440"/>
            <a:ext cx="9509760" cy="1188720"/>
          </a:xfrm>
          <a:prstGeom prst="rect">
            <a:avLst/>
          </a:prstGeom>
          <a:noFill/>
          <a:ln/>
        </p:spPr>
        <p:txBody>
          <a:bodyPr wrap="square" rtlCol="0" anchor="t"/>
          <a:lstStyle/>
          <a:p>
            <a:pPr marL="0" indent="0" algn="l">
              <a:buNone/>
            </a:pPr>
            <a:r>
              <a:rPr lang="en-US" sz="2200" dirty="0">
                <a:solidFill>
                  <a:srgbClr val="C9E4D8"/>
                </a:solidFill>
              </a:rPr>
              <a:t>Merci de </a:t>
            </a:r>
            <a:r>
              <a:rPr lang="en-US" sz="2200" dirty="0" err="1">
                <a:solidFill>
                  <a:srgbClr val="C9E4D8"/>
                </a:solidFill>
              </a:rPr>
              <a:t>votre</a:t>
            </a:r>
            <a:r>
              <a:rPr lang="en-US" sz="2200" dirty="0">
                <a:solidFill>
                  <a:srgbClr val="C9E4D8"/>
                </a:solidFill>
              </a:rPr>
              <a:t> attention. </a:t>
            </a:r>
          </a:p>
          <a:p>
            <a:pPr marL="0" indent="0" algn="l">
              <a:buNone/>
            </a:pPr>
            <a:r>
              <a:rPr lang="en-US" sz="2200" dirty="0">
                <a:solidFill>
                  <a:srgbClr val="C9E4D8"/>
                </a:solidFill>
              </a:rPr>
              <a:t>Vos questions </a:t>
            </a:r>
            <a:r>
              <a:rPr lang="en-US" sz="2200" dirty="0" err="1">
                <a:solidFill>
                  <a:srgbClr val="C9E4D8"/>
                </a:solidFill>
              </a:rPr>
              <a:t>sont</a:t>
            </a:r>
            <a:r>
              <a:rPr lang="en-US" sz="2200" dirty="0">
                <a:solidFill>
                  <a:srgbClr val="C9E4D8"/>
                </a:solidFill>
              </a:rPr>
              <a:t> les </a:t>
            </a:r>
            <a:r>
              <a:rPr lang="en-US" sz="2200" dirty="0" err="1">
                <a:solidFill>
                  <a:srgbClr val="C9E4D8"/>
                </a:solidFill>
              </a:rPr>
              <a:t>bienvenues</a:t>
            </a:r>
            <a:r>
              <a:rPr lang="en-US" dirty="0"/>
              <a:t>.</a:t>
            </a:r>
            <a:endParaRPr lang="en-US" sz="2200" dirty="0"/>
          </a:p>
        </p:txBody>
      </p:sp>
      <p:sp>
        <p:nvSpPr>
          <p:cNvPr id="4" name="icone-fin-cercle"/>
          <p:cNvSpPr/>
          <p:nvPr/>
        </p:nvSpPr>
        <p:spPr>
          <a:xfrm>
            <a:off x="10515600" y="640080"/>
            <a:ext cx="1005840" cy="1005840"/>
          </a:xfrm>
          <a:prstGeom prst="ellipse">
            <a:avLst/>
          </a:prstGeom>
          <a:solidFill>
            <a:srgbClr val="1B6E53"/>
          </a:solidFill>
          <a:ln w="12700">
            <a:solidFill>
              <a:srgbClr val="1B6E53"/>
            </a:solidFill>
            <a:prstDash val="solid"/>
          </a:ln>
        </p:spPr>
        <p:txBody>
          <a:bodyPr/>
          <a:lstStyle/>
          <a:p>
            <a:endParaRPr lang="fr-FR"/>
          </a:p>
        </p:txBody>
      </p:sp>
      <p:pic>
        <p:nvPicPr>
          <p:cNvPr id="5" name="icone-fin" descr="preencoded.png"/>
          <p:cNvPicPr>
            <a:picLocks noChangeAspect="1"/>
          </p:cNvPicPr>
          <p:nvPr/>
        </p:nvPicPr>
        <p:blipFill>
          <a:blip r:embed="rId3"/>
          <a:stretch>
            <a:fillRect/>
          </a:stretch>
        </p:blipFill>
        <p:spPr>
          <a:xfrm>
            <a:off x="10767060" y="891540"/>
            <a:ext cx="502920" cy="502920"/>
          </a:xfrm>
          <a:prstGeom prst="rect">
            <a:avLst/>
          </a:prstGeom>
        </p:spPr>
      </p:pic>
    </p:spTree>
  </p:cSld>
  <p:clrMapOvr>
    <a:masterClrMapping/>
  </p:clrMapOvr>
</p:sld>
</file>

<file path=ppt/theme/theme1.xml><?xml version="1.0" encoding="utf-8"?>
<a:theme xmlns:a="http://schemas.openxmlformats.org/drawingml/2006/main" name="Guide EPT 5G">
  <a:themeElements>
    <a:clrScheme name="Guide EPT 5G">
      <a:dk1>
        <a:srgbClr val="17312A"/>
      </a:dk1>
      <a:lt1>
        <a:srgbClr val="FFFFFF"/>
      </a:lt1>
      <a:dk2>
        <a:srgbClr val="1B6E53"/>
      </a:dk2>
      <a:lt2>
        <a:srgbClr val="EEF5F1"/>
      </a:lt2>
      <a:accent1>
        <a:srgbClr val="1B6E53"/>
      </a:accent1>
      <a:accent2>
        <a:srgbClr val="F2A541"/>
      </a:accent2>
      <a:accent3>
        <a:srgbClr val="2B6CB0"/>
      </a:accent3>
      <a:accent4>
        <a:srgbClr val="5F6B7A"/>
      </a:accent4>
      <a:accent5>
        <a:srgbClr val="B83A3A"/>
      </a:accent5>
      <a:accent6>
        <a:srgbClr val="97BC62"/>
      </a:accent6>
      <a:hlink>
        <a:srgbClr val="2B6CB0"/>
      </a:hlink>
      <a:folHlink>
        <a:srgbClr val="6D2E46"/>
      </a:folHlink>
    </a:clrScheme>
    <a:fontScheme name="Guide EPT 5G">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117</TotalTime>
  <Words>1279</Words>
  <Application>Microsoft Office PowerPoint</Application>
  <PresentationFormat>Grand écran</PresentationFormat>
  <Paragraphs>122</Paragraphs>
  <Slides>11</Slides>
  <Notes>11</Notes>
  <HiddenSlides>0</HiddenSlides>
  <MMClips>0</MMClips>
  <ScaleCrop>false</ScaleCrop>
  <HeadingPairs>
    <vt:vector size="6" baseType="variant">
      <vt:variant>
        <vt:lpstr>Polices utilisées</vt:lpstr>
      </vt:variant>
      <vt:variant>
        <vt:i4>3</vt:i4>
      </vt:variant>
      <vt:variant>
        <vt:lpstr>Thème</vt:lpstr>
      </vt:variant>
      <vt:variant>
        <vt:i4>1</vt:i4>
      </vt:variant>
      <vt:variant>
        <vt:lpstr>Titres des diapositives</vt:lpstr>
      </vt:variant>
      <vt:variant>
        <vt:i4>11</vt:i4>
      </vt:variant>
    </vt:vector>
  </HeadingPairs>
  <TitlesOfParts>
    <vt:vector size="15" baseType="lpstr">
      <vt:lpstr>Arial</vt:lpstr>
      <vt:lpstr>Calibri</vt:lpstr>
      <vt:lpstr>Lucida Sans</vt:lpstr>
      <vt:lpstr>Guide EPT 5G</vt:lpstr>
      <vt:lpstr>MyWay</vt:lpstr>
      <vt:lpstr>Plan</vt:lpstr>
      <vt:lpstr>Problématiques</vt:lpstr>
      <vt:lpstr>Un scan, un choix, un chemin</vt:lpstr>
      <vt:lpstr>Solution pratique</vt:lpstr>
      <vt:lpstr>Architecture</vt:lpstr>
      <vt:lpstr>Résultats</vt:lpstr>
      <vt:lpstr>Vérifications effectuées </vt:lpstr>
      <vt:lpstr>Démonstration en direct</vt:lpstr>
      <vt:lpstr>Et ensuite ?</vt:lpstr>
      <vt:lpstr>Notre 5G, au service de l'EPT</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Guide EPT : s'orienter sur le campus grâce à notre réseau 5G</dc:title>
  <dc:subject>PptxGenJS Presentation</dc:subject>
  <dc:creator>Équipe Guide EPT</dc:creator>
  <cp:lastModifiedBy>Ndeye Fatou Ndoye</cp:lastModifiedBy>
  <cp:revision>6</cp:revision>
  <dcterms:created xsi:type="dcterms:W3CDTF">2026-10-14T22:47:35Z</dcterms:created>
  <dcterms:modified xsi:type="dcterms:W3CDTF">2026-10-15T03:00:34Z</dcterms:modified>
</cp:coreProperties>
</file>